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3" r:id="rId7"/>
    <p:sldId id="264" r:id="rId8"/>
    <p:sldId id="265" r:id="rId9"/>
    <p:sldId id="266" r:id="rId10"/>
    <p:sldId id="267" r:id="rId11"/>
    <p:sldId id="268" r:id="rId12"/>
    <p:sldId id="269" r:id="rId13"/>
    <p:sldId id="270" r:id="rId14"/>
    <p:sldId id="271" r:id="rId15"/>
    <p:sldId id="272" r:id="rId16"/>
    <p:sldId id="274" r:id="rId17"/>
    <p:sldId id="273" r:id="rId18"/>
    <p:sldId id="277" r:id="rId19"/>
    <p:sldId id="279" r:id="rId20"/>
    <p:sldId id="280" r:id="rId21"/>
    <p:sldId id="275" r:id="rId22"/>
    <p:sldId id="262" r:id="rId23"/>
    <p:sldId id="276" r:id="rId24"/>
    <p:sldId id="281" r:id="rId25"/>
    <p:sldId id="282" r:id="rId26"/>
    <p:sldId id="283" r:id="rId27"/>
    <p:sldId id="284" r:id="rId28"/>
    <p:sldId id="285" r:id="rId29"/>
    <p:sldId id="28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DB8381-81ED-448B-B4F5-90D148A2E36E}" v="969" dt="2026-02-27T18:48:56.432"/>
    <p1510:client id="{C234342E-D8BA-3C9C-0FB4-76E87014441F}" v="777" dt="2026-02-27T18:38:07.787"/>
    <p1510:client id="{CC110207-1981-001E-61F7-6F6742B4A017}" v="373" dt="2026-02-27T18:37:28.372"/>
    <p1510:client id="{D38D9DC0-7FFA-5C2F-5B5F-34B73C6B17B0}" v="674" dt="2026-02-27T18:44:18.915"/>
    <p1510:client id="{F179E4EC-B555-F562-0197-3734312BC0CB}" v="3" dt="2026-02-27T17:32:43.4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5/10/relationships/revisionInfo" Target="revisionInfo.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BECEA-FE5E-5E40-E017-C983A1D91C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DC98EAF-65FE-7535-6E19-091E373DFA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06B9E0-F62A-C8FB-3D75-80887010BD4E}"/>
              </a:ext>
            </a:extLst>
          </p:cNvPr>
          <p:cNvSpPr>
            <a:spLocks noGrp="1"/>
          </p:cNvSpPr>
          <p:nvPr>
            <p:ph type="dt" sz="half" idx="10"/>
          </p:nvPr>
        </p:nvSpPr>
        <p:spPr/>
        <p:txBody>
          <a:bodyPr/>
          <a:lstStyle/>
          <a:p>
            <a:fld id="{7AF76FE9-BE0B-46BD-A092-CD5DA3AC39D4}" type="datetimeFigureOut">
              <a:rPr lang="en-IN" smtClean="0"/>
              <a:t>27-02-2026</a:t>
            </a:fld>
            <a:endParaRPr lang="en-IN"/>
          </a:p>
        </p:txBody>
      </p:sp>
      <p:sp>
        <p:nvSpPr>
          <p:cNvPr id="5" name="Footer Placeholder 4">
            <a:extLst>
              <a:ext uri="{FF2B5EF4-FFF2-40B4-BE49-F238E27FC236}">
                <a16:creationId xmlns:a16="http://schemas.microsoft.com/office/drawing/2014/main" id="{E985B2D3-AB85-6018-412A-4F6675F012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D2EEC5-2352-4A00-77A0-1AC0F3EB9780}"/>
              </a:ext>
            </a:extLst>
          </p:cNvPr>
          <p:cNvSpPr>
            <a:spLocks noGrp="1"/>
          </p:cNvSpPr>
          <p:nvPr>
            <p:ph type="sldNum" sz="quarter" idx="12"/>
          </p:nvPr>
        </p:nvSpPr>
        <p:spPr/>
        <p:txBody>
          <a:bodyPr/>
          <a:lstStyle/>
          <a:p>
            <a:fld id="{D3CBC536-7F84-4A73-8961-687F56968EE5}" type="slidenum">
              <a:rPr lang="en-IN" smtClean="0"/>
              <a:t>‹#›</a:t>
            </a:fld>
            <a:endParaRPr lang="en-IN"/>
          </a:p>
        </p:txBody>
      </p:sp>
    </p:spTree>
    <p:extLst>
      <p:ext uri="{BB962C8B-B14F-4D97-AF65-F5344CB8AC3E}">
        <p14:creationId xmlns:p14="http://schemas.microsoft.com/office/powerpoint/2010/main" val="652464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4C8EB-65C7-4706-BC89-E4D3250CCC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6C9C4A-E301-3B63-29C1-B8DC5FC6F40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8D101D-6775-E035-6CF4-B25AFEE5840C}"/>
              </a:ext>
            </a:extLst>
          </p:cNvPr>
          <p:cNvSpPr>
            <a:spLocks noGrp="1"/>
          </p:cNvSpPr>
          <p:nvPr>
            <p:ph type="dt" sz="half" idx="10"/>
          </p:nvPr>
        </p:nvSpPr>
        <p:spPr/>
        <p:txBody>
          <a:bodyPr/>
          <a:lstStyle/>
          <a:p>
            <a:fld id="{7AF76FE9-BE0B-46BD-A092-CD5DA3AC39D4}" type="datetimeFigureOut">
              <a:rPr lang="en-IN" smtClean="0"/>
              <a:t>27-02-2026</a:t>
            </a:fld>
            <a:endParaRPr lang="en-IN"/>
          </a:p>
        </p:txBody>
      </p:sp>
      <p:sp>
        <p:nvSpPr>
          <p:cNvPr id="5" name="Footer Placeholder 4">
            <a:extLst>
              <a:ext uri="{FF2B5EF4-FFF2-40B4-BE49-F238E27FC236}">
                <a16:creationId xmlns:a16="http://schemas.microsoft.com/office/drawing/2014/main" id="{E8B3085A-5DF8-9106-6641-D644124A77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33D8AD-1446-F47E-17A8-8DABC39C6401}"/>
              </a:ext>
            </a:extLst>
          </p:cNvPr>
          <p:cNvSpPr>
            <a:spLocks noGrp="1"/>
          </p:cNvSpPr>
          <p:nvPr>
            <p:ph type="sldNum" sz="quarter" idx="12"/>
          </p:nvPr>
        </p:nvSpPr>
        <p:spPr/>
        <p:txBody>
          <a:bodyPr/>
          <a:lstStyle/>
          <a:p>
            <a:fld id="{D3CBC536-7F84-4A73-8961-687F56968EE5}" type="slidenum">
              <a:rPr lang="en-IN" smtClean="0"/>
              <a:t>‹#›</a:t>
            </a:fld>
            <a:endParaRPr lang="en-IN"/>
          </a:p>
        </p:txBody>
      </p:sp>
    </p:spTree>
    <p:extLst>
      <p:ext uri="{BB962C8B-B14F-4D97-AF65-F5344CB8AC3E}">
        <p14:creationId xmlns:p14="http://schemas.microsoft.com/office/powerpoint/2010/main" val="4285422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D7406-89E8-4A23-E6DB-9FD93AC46C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03D942-87B7-87BE-1E9C-AEC2CE7B5D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83864C-42CD-AD60-CBC8-715AAFD856E8}"/>
              </a:ext>
            </a:extLst>
          </p:cNvPr>
          <p:cNvSpPr>
            <a:spLocks noGrp="1"/>
          </p:cNvSpPr>
          <p:nvPr>
            <p:ph type="dt" sz="half" idx="10"/>
          </p:nvPr>
        </p:nvSpPr>
        <p:spPr/>
        <p:txBody>
          <a:bodyPr/>
          <a:lstStyle/>
          <a:p>
            <a:fld id="{7AF76FE9-BE0B-46BD-A092-CD5DA3AC39D4}" type="datetimeFigureOut">
              <a:rPr lang="en-IN" smtClean="0"/>
              <a:t>27-02-2026</a:t>
            </a:fld>
            <a:endParaRPr lang="en-IN"/>
          </a:p>
        </p:txBody>
      </p:sp>
      <p:sp>
        <p:nvSpPr>
          <p:cNvPr id="5" name="Footer Placeholder 4">
            <a:extLst>
              <a:ext uri="{FF2B5EF4-FFF2-40B4-BE49-F238E27FC236}">
                <a16:creationId xmlns:a16="http://schemas.microsoft.com/office/drawing/2014/main" id="{288A22A0-238E-5D62-C90F-6C49F3B57C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A71C1D-DE03-C453-1EC5-A05AB93121D5}"/>
              </a:ext>
            </a:extLst>
          </p:cNvPr>
          <p:cNvSpPr>
            <a:spLocks noGrp="1"/>
          </p:cNvSpPr>
          <p:nvPr>
            <p:ph type="sldNum" sz="quarter" idx="12"/>
          </p:nvPr>
        </p:nvSpPr>
        <p:spPr/>
        <p:txBody>
          <a:bodyPr/>
          <a:lstStyle/>
          <a:p>
            <a:fld id="{D3CBC536-7F84-4A73-8961-687F56968EE5}" type="slidenum">
              <a:rPr lang="en-IN" smtClean="0"/>
              <a:t>‹#›</a:t>
            </a:fld>
            <a:endParaRPr lang="en-IN"/>
          </a:p>
        </p:txBody>
      </p:sp>
    </p:spTree>
    <p:extLst>
      <p:ext uri="{BB962C8B-B14F-4D97-AF65-F5344CB8AC3E}">
        <p14:creationId xmlns:p14="http://schemas.microsoft.com/office/powerpoint/2010/main" val="2765485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76743-3F84-D10D-057E-25014F7EA8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07A8C7-0DFA-B8B7-B4EB-8738A01FC8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4F185FF-5890-9A2F-DF3D-4690F838D8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AECA0CE-BAFE-95C4-2E45-D6266E4657F4}"/>
              </a:ext>
            </a:extLst>
          </p:cNvPr>
          <p:cNvSpPr>
            <a:spLocks noGrp="1"/>
          </p:cNvSpPr>
          <p:nvPr>
            <p:ph type="dt" sz="half" idx="10"/>
          </p:nvPr>
        </p:nvSpPr>
        <p:spPr/>
        <p:txBody>
          <a:bodyPr/>
          <a:lstStyle/>
          <a:p>
            <a:fld id="{7AF76FE9-BE0B-46BD-A092-CD5DA3AC39D4}" type="datetimeFigureOut">
              <a:rPr lang="en-IN" smtClean="0"/>
              <a:t>27-02-2026</a:t>
            </a:fld>
            <a:endParaRPr lang="en-IN"/>
          </a:p>
        </p:txBody>
      </p:sp>
      <p:sp>
        <p:nvSpPr>
          <p:cNvPr id="6" name="Footer Placeholder 5">
            <a:extLst>
              <a:ext uri="{FF2B5EF4-FFF2-40B4-BE49-F238E27FC236}">
                <a16:creationId xmlns:a16="http://schemas.microsoft.com/office/drawing/2014/main" id="{CA39B251-F606-4EB6-2B66-E0710E29B1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EF01B8-EF62-590C-C850-530B473E75C3}"/>
              </a:ext>
            </a:extLst>
          </p:cNvPr>
          <p:cNvSpPr>
            <a:spLocks noGrp="1"/>
          </p:cNvSpPr>
          <p:nvPr>
            <p:ph type="sldNum" sz="quarter" idx="12"/>
          </p:nvPr>
        </p:nvSpPr>
        <p:spPr/>
        <p:txBody>
          <a:bodyPr/>
          <a:lstStyle/>
          <a:p>
            <a:fld id="{D3CBC536-7F84-4A73-8961-687F56968EE5}" type="slidenum">
              <a:rPr lang="en-IN" smtClean="0"/>
              <a:t>‹#›</a:t>
            </a:fld>
            <a:endParaRPr lang="en-IN"/>
          </a:p>
        </p:txBody>
      </p:sp>
    </p:spTree>
    <p:extLst>
      <p:ext uri="{BB962C8B-B14F-4D97-AF65-F5344CB8AC3E}">
        <p14:creationId xmlns:p14="http://schemas.microsoft.com/office/powerpoint/2010/main" val="335170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E7021-0F6D-B006-9906-3AAC725F15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25247C-5267-8634-8F1E-AD20E712F2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8F0E6B-7585-D107-6F9E-A0DEC1C739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9AA3A9-3C70-5C33-95CD-3E60CF92CB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EDC8A1-A4C3-A145-06D3-2B005E81FF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F196D2D-93FB-C585-2B63-B33E9F17C454}"/>
              </a:ext>
            </a:extLst>
          </p:cNvPr>
          <p:cNvSpPr>
            <a:spLocks noGrp="1"/>
          </p:cNvSpPr>
          <p:nvPr>
            <p:ph type="dt" sz="half" idx="10"/>
          </p:nvPr>
        </p:nvSpPr>
        <p:spPr/>
        <p:txBody>
          <a:bodyPr/>
          <a:lstStyle/>
          <a:p>
            <a:fld id="{7AF76FE9-BE0B-46BD-A092-CD5DA3AC39D4}" type="datetimeFigureOut">
              <a:rPr lang="en-IN" smtClean="0"/>
              <a:t>27-02-2026</a:t>
            </a:fld>
            <a:endParaRPr lang="en-IN"/>
          </a:p>
        </p:txBody>
      </p:sp>
      <p:sp>
        <p:nvSpPr>
          <p:cNvPr id="8" name="Footer Placeholder 7">
            <a:extLst>
              <a:ext uri="{FF2B5EF4-FFF2-40B4-BE49-F238E27FC236}">
                <a16:creationId xmlns:a16="http://schemas.microsoft.com/office/drawing/2014/main" id="{14B6377F-93BB-350F-9A80-16E001654AE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4A49833-8326-7E90-9546-BE010FD55E9F}"/>
              </a:ext>
            </a:extLst>
          </p:cNvPr>
          <p:cNvSpPr>
            <a:spLocks noGrp="1"/>
          </p:cNvSpPr>
          <p:nvPr>
            <p:ph type="sldNum" sz="quarter" idx="12"/>
          </p:nvPr>
        </p:nvSpPr>
        <p:spPr/>
        <p:txBody>
          <a:bodyPr/>
          <a:lstStyle/>
          <a:p>
            <a:fld id="{D3CBC536-7F84-4A73-8961-687F56968EE5}" type="slidenum">
              <a:rPr lang="en-IN" smtClean="0"/>
              <a:t>‹#›</a:t>
            </a:fld>
            <a:endParaRPr lang="en-IN"/>
          </a:p>
        </p:txBody>
      </p:sp>
    </p:spTree>
    <p:extLst>
      <p:ext uri="{BB962C8B-B14F-4D97-AF65-F5344CB8AC3E}">
        <p14:creationId xmlns:p14="http://schemas.microsoft.com/office/powerpoint/2010/main" val="37605128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868F4-D837-E894-7545-C4684D01903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076A8AE-7B15-4117-DC63-214F31C6793A}"/>
              </a:ext>
            </a:extLst>
          </p:cNvPr>
          <p:cNvSpPr>
            <a:spLocks noGrp="1"/>
          </p:cNvSpPr>
          <p:nvPr>
            <p:ph type="dt" sz="half" idx="10"/>
          </p:nvPr>
        </p:nvSpPr>
        <p:spPr/>
        <p:txBody>
          <a:bodyPr/>
          <a:lstStyle/>
          <a:p>
            <a:fld id="{7AF76FE9-BE0B-46BD-A092-CD5DA3AC39D4}" type="datetimeFigureOut">
              <a:rPr lang="en-IN" smtClean="0"/>
              <a:t>27-02-2026</a:t>
            </a:fld>
            <a:endParaRPr lang="en-IN"/>
          </a:p>
        </p:txBody>
      </p:sp>
      <p:sp>
        <p:nvSpPr>
          <p:cNvPr id="4" name="Footer Placeholder 3">
            <a:extLst>
              <a:ext uri="{FF2B5EF4-FFF2-40B4-BE49-F238E27FC236}">
                <a16:creationId xmlns:a16="http://schemas.microsoft.com/office/drawing/2014/main" id="{911B250C-B1F5-7BF0-8A2E-D3BB2AA5D8C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18F39CB-4B66-26F7-D22D-12B54FAB64F4}"/>
              </a:ext>
            </a:extLst>
          </p:cNvPr>
          <p:cNvSpPr>
            <a:spLocks noGrp="1"/>
          </p:cNvSpPr>
          <p:nvPr>
            <p:ph type="sldNum" sz="quarter" idx="12"/>
          </p:nvPr>
        </p:nvSpPr>
        <p:spPr/>
        <p:txBody>
          <a:bodyPr/>
          <a:lstStyle/>
          <a:p>
            <a:fld id="{D3CBC536-7F84-4A73-8961-687F56968EE5}" type="slidenum">
              <a:rPr lang="en-IN" smtClean="0"/>
              <a:t>‹#›</a:t>
            </a:fld>
            <a:endParaRPr lang="en-IN"/>
          </a:p>
        </p:txBody>
      </p:sp>
    </p:spTree>
    <p:extLst>
      <p:ext uri="{BB962C8B-B14F-4D97-AF65-F5344CB8AC3E}">
        <p14:creationId xmlns:p14="http://schemas.microsoft.com/office/powerpoint/2010/main" val="3033673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3D7D2B-C900-1ACD-B7C8-9DFF609165A3}"/>
              </a:ext>
            </a:extLst>
          </p:cNvPr>
          <p:cNvSpPr>
            <a:spLocks noGrp="1"/>
          </p:cNvSpPr>
          <p:nvPr>
            <p:ph type="dt" sz="half" idx="10"/>
          </p:nvPr>
        </p:nvSpPr>
        <p:spPr/>
        <p:txBody>
          <a:bodyPr/>
          <a:lstStyle/>
          <a:p>
            <a:fld id="{7AF76FE9-BE0B-46BD-A092-CD5DA3AC39D4}" type="datetimeFigureOut">
              <a:rPr lang="en-IN" smtClean="0"/>
              <a:t>27-02-2026</a:t>
            </a:fld>
            <a:endParaRPr lang="en-IN"/>
          </a:p>
        </p:txBody>
      </p:sp>
      <p:sp>
        <p:nvSpPr>
          <p:cNvPr id="3" name="Footer Placeholder 2">
            <a:extLst>
              <a:ext uri="{FF2B5EF4-FFF2-40B4-BE49-F238E27FC236}">
                <a16:creationId xmlns:a16="http://schemas.microsoft.com/office/drawing/2014/main" id="{E537CF67-FD82-D07D-6B10-1303EA3197F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46DA2A7-9185-C20C-BA4E-71427FDEA388}"/>
              </a:ext>
            </a:extLst>
          </p:cNvPr>
          <p:cNvSpPr>
            <a:spLocks noGrp="1"/>
          </p:cNvSpPr>
          <p:nvPr>
            <p:ph type="sldNum" sz="quarter" idx="12"/>
          </p:nvPr>
        </p:nvSpPr>
        <p:spPr/>
        <p:txBody>
          <a:bodyPr/>
          <a:lstStyle/>
          <a:p>
            <a:fld id="{D3CBC536-7F84-4A73-8961-687F56968EE5}" type="slidenum">
              <a:rPr lang="en-IN" smtClean="0"/>
              <a:t>‹#›</a:t>
            </a:fld>
            <a:endParaRPr lang="en-IN"/>
          </a:p>
        </p:txBody>
      </p:sp>
    </p:spTree>
    <p:extLst>
      <p:ext uri="{BB962C8B-B14F-4D97-AF65-F5344CB8AC3E}">
        <p14:creationId xmlns:p14="http://schemas.microsoft.com/office/powerpoint/2010/main" val="521782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424C6-98C2-4C2C-3513-5BF799D540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C7EBC9-87DC-CBFA-8967-C389791517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A32DA1B-7580-3327-30BF-CDA9ED28DC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E49337-E5DD-3F28-4C16-8EE0D0CD586F}"/>
              </a:ext>
            </a:extLst>
          </p:cNvPr>
          <p:cNvSpPr>
            <a:spLocks noGrp="1"/>
          </p:cNvSpPr>
          <p:nvPr>
            <p:ph type="dt" sz="half" idx="10"/>
          </p:nvPr>
        </p:nvSpPr>
        <p:spPr/>
        <p:txBody>
          <a:bodyPr/>
          <a:lstStyle/>
          <a:p>
            <a:fld id="{7AF76FE9-BE0B-46BD-A092-CD5DA3AC39D4}" type="datetimeFigureOut">
              <a:rPr lang="en-IN" smtClean="0"/>
              <a:t>27-02-2026</a:t>
            </a:fld>
            <a:endParaRPr lang="en-IN"/>
          </a:p>
        </p:txBody>
      </p:sp>
      <p:sp>
        <p:nvSpPr>
          <p:cNvPr id="6" name="Footer Placeholder 5">
            <a:extLst>
              <a:ext uri="{FF2B5EF4-FFF2-40B4-BE49-F238E27FC236}">
                <a16:creationId xmlns:a16="http://schemas.microsoft.com/office/drawing/2014/main" id="{22378AC2-AAD9-2ADD-F8E8-59FC29E6D7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101FBD-B097-B273-1902-00CFA01CA9F5}"/>
              </a:ext>
            </a:extLst>
          </p:cNvPr>
          <p:cNvSpPr>
            <a:spLocks noGrp="1"/>
          </p:cNvSpPr>
          <p:nvPr>
            <p:ph type="sldNum" sz="quarter" idx="12"/>
          </p:nvPr>
        </p:nvSpPr>
        <p:spPr/>
        <p:txBody>
          <a:bodyPr/>
          <a:lstStyle/>
          <a:p>
            <a:fld id="{D3CBC536-7F84-4A73-8961-687F56968EE5}" type="slidenum">
              <a:rPr lang="en-IN" smtClean="0"/>
              <a:t>‹#›</a:t>
            </a:fld>
            <a:endParaRPr lang="en-IN"/>
          </a:p>
        </p:txBody>
      </p:sp>
    </p:spTree>
    <p:extLst>
      <p:ext uri="{BB962C8B-B14F-4D97-AF65-F5344CB8AC3E}">
        <p14:creationId xmlns:p14="http://schemas.microsoft.com/office/powerpoint/2010/main" val="153450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7DA11-CE8F-B148-CA5D-FF7BC76168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63A3F43-F7C2-14BF-2F1A-5627B18995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848E06-B896-1396-AC25-644C55B010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40A930-DAD3-E10E-9E48-59F2526C245B}"/>
              </a:ext>
            </a:extLst>
          </p:cNvPr>
          <p:cNvSpPr>
            <a:spLocks noGrp="1"/>
          </p:cNvSpPr>
          <p:nvPr>
            <p:ph type="dt" sz="half" idx="10"/>
          </p:nvPr>
        </p:nvSpPr>
        <p:spPr/>
        <p:txBody>
          <a:bodyPr/>
          <a:lstStyle/>
          <a:p>
            <a:fld id="{7AF76FE9-BE0B-46BD-A092-CD5DA3AC39D4}" type="datetimeFigureOut">
              <a:rPr lang="en-IN" smtClean="0"/>
              <a:t>27-02-2026</a:t>
            </a:fld>
            <a:endParaRPr lang="en-IN"/>
          </a:p>
        </p:txBody>
      </p:sp>
      <p:sp>
        <p:nvSpPr>
          <p:cNvPr id="6" name="Footer Placeholder 5">
            <a:extLst>
              <a:ext uri="{FF2B5EF4-FFF2-40B4-BE49-F238E27FC236}">
                <a16:creationId xmlns:a16="http://schemas.microsoft.com/office/drawing/2014/main" id="{2BCDEF51-87AE-8F3B-3F84-92528B73F5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50F542-4029-A6CF-8699-0E0592AF5A74}"/>
              </a:ext>
            </a:extLst>
          </p:cNvPr>
          <p:cNvSpPr>
            <a:spLocks noGrp="1"/>
          </p:cNvSpPr>
          <p:nvPr>
            <p:ph type="sldNum" sz="quarter" idx="12"/>
          </p:nvPr>
        </p:nvSpPr>
        <p:spPr/>
        <p:txBody>
          <a:bodyPr/>
          <a:lstStyle/>
          <a:p>
            <a:fld id="{D3CBC536-7F84-4A73-8961-687F56968EE5}" type="slidenum">
              <a:rPr lang="en-IN" smtClean="0"/>
              <a:t>‹#›</a:t>
            </a:fld>
            <a:endParaRPr lang="en-IN"/>
          </a:p>
        </p:txBody>
      </p:sp>
    </p:spTree>
    <p:extLst>
      <p:ext uri="{BB962C8B-B14F-4D97-AF65-F5344CB8AC3E}">
        <p14:creationId xmlns:p14="http://schemas.microsoft.com/office/powerpoint/2010/main" val="874425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03A64-BDD4-069B-013F-18808B0A65B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C1BAA8-A60D-78A4-9C80-D2DD3EA8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226391-76E0-7128-183B-9BFCE774F8DF}"/>
              </a:ext>
            </a:extLst>
          </p:cNvPr>
          <p:cNvSpPr>
            <a:spLocks noGrp="1"/>
          </p:cNvSpPr>
          <p:nvPr>
            <p:ph type="dt" sz="half" idx="10"/>
          </p:nvPr>
        </p:nvSpPr>
        <p:spPr/>
        <p:txBody>
          <a:bodyPr/>
          <a:lstStyle/>
          <a:p>
            <a:fld id="{7AF76FE9-BE0B-46BD-A092-CD5DA3AC39D4}" type="datetimeFigureOut">
              <a:rPr lang="en-IN" smtClean="0"/>
              <a:t>27-02-2026</a:t>
            </a:fld>
            <a:endParaRPr lang="en-IN"/>
          </a:p>
        </p:txBody>
      </p:sp>
      <p:sp>
        <p:nvSpPr>
          <p:cNvPr id="5" name="Footer Placeholder 4">
            <a:extLst>
              <a:ext uri="{FF2B5EF4-FFF2-40B4-BE49-F238E27FC236}">
                <a16:creationId xmlns:a16="http://schemas.microsoft.com/office/drawing/2014/main" id="{47FB8C0C-497C-D15B-8D0F-EF3AF6D4FB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090562-6236-6EED-28C3-1A76A17BE1D0}"/>
              </a:ext>
            </a:extLst>
          </p:cNvPr>
          <p:cNvSpPr>
            <a:spLocks noGrp="1"/>
          </p:cNvSpPr>
          <p:nvPr>
            <p:ph type="sldNum" sz="quarter" idx="12"/>
          </p:nvPr>
        </p:nvSpPr>
        <p:spPr/>
        <p:txBody>
          <a:bodyPr/>
          <a:lstStyle/>
          <a:p>
            <a:fld id="{D3CBC536-7F84-4A73-8961-687F56968EE5}" type="slidenum">
              <a:rPr lang="en-IN" smtClean="0"/>
              <a:t>‹#›</a:t>
            </a:fld>
            <a:endParaRPr lang="en-IN"/>
          </a:p>
        </p:txBody>
      </p:sp>
    </p:spTree>
    <p:extLst>
      <p:ext uri="{BB962C8B-B14F-4D97-AF65-F5344CB8AC3E}">
        <p14:creationId xmlns:p14="http://schemas.microsoft.com/office/powerpoint/2010/main" val="3497279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6A3597-4AA0-383B-45FE-61FE203132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90DA29-4C5E-E3A5-1F4B-CA8E96C7A3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6EEDBD-07E0-C226-8249-E83A7069798B}"/>
              </a:ext>
            </a:extLst>
          </p:cNvPr>
          <p:cNvSpPr>
            <a:spLocks noGrp="1"/>
          </p:cNvSpPr>
          <p:nvPr>
            <p:ph type="dt" sz="half" idx="10"/>
          </p:nvPr>
        </p:nvSpPr>
        <p:spPr/>
        <p:txBody>
          <a:bodyPr/>
          <a:lstStyle/>
          <a:p>
            <a:fld id="{7AF76FE9-BE0B-46BD-A092-CD5DA3AC39D4}" type="datetimeFigureOut">
              <a:rPr lang="en-IN" smtClean="0"/>
              <a:t>27-02-2026</a:t>
            </a:fld>
            <a:endParaRPr lang="en-IN"/>
          </a:p>
        </p:txBody>
      </p:sp>
      <p:sp>
        <p:nvSpPr>
          <p:cNvPr id="5" name="Footer Placeholder 4">
            <a:extLst>
              <a:ext uri="{FF2B5EF4-FFF2-40B4-BE49-F238E27FC236}">
                <a16:creationId xmlns:a16="http://schemas.microsoft.com/office/drawing/2014/main" id="{14377990-D20C-E31C-3FEA-9A96675391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B183AA-00E2-C5A3-33A4-F6A37F83DBF0}"/>
              </a:ext>
            </a:extLst>
          </p:cNvPr>
          <p:cNvSpPr>
            <a:spLocks noGrp="1"/>
          </p:cNvSpPr>
          <p:nvPr>
            <p:ph type="sldNum" sz="quarter" idx="12"/>
          </p:nvPr>
        </p:nvSpPr>
        <p:spPr/>
        <p:txBody>
          <a:bodyPr/>
          <a:lstStyle/>
          <a:p>
            <a:fld id="{D3CBC536-7F84-4A73-8961-687F56968EE5}" type="slidenum">
              <a:rPr lang="en-IN" smtClean="0"/>
              <a:t>‹#›</a:t>
            </a:fld>
            <a:endParaRPr lang="en-IN"/>
          </a:p>
        </p:txBody>
      </p:sp>
    </p:spTree>
    <p:extLst>
      <p:ext uri="{BB962C8B-B14F-4D97-AF65-F5344CB8AC3E}">
        <p14:creationId xmlns:p14="http://schemas.microsoft.com/office/powerpoint/2010/main" val="324886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00B836-14FE-7E78-303D-4A84A9B240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35F759-63AB-EE55-1414-1057BB5942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8F810F-31CC-CAF3-B3CB-2D3B352610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F76FE9-BE0B-46BD-A092-CD5DA3AC39D4}" type="datetimeFigureOut">
              <a:rPr lang="en-IN" smtClean="0"/>
              <a:t>27-02-2026</a:t>
            </a:fld>
            <a:endParaRPr lang="en-IN"/>
          </a:p>
        </p:txBody>
      </p:sp>
      <p:sp>
        <p:nvSpPr>
          <p:cNvPr id="5" name="Footer Placeholder 4">
            <a:extLst>
              <a:ext uri="{FF2B5EF4-FFF2-40B4-BE49-F238E27FC236}">
                <a16:creationId xmlns:a16="http://schemas.microsoft.com/office/drawing/2014/main" id="{81087A1C-A47F-1DE3-965B-23614415B7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A107034-F274-AE7E-40CC-20125D27B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CBC536-7F84-4A73-8961-687F56968EE5}" type="slidenum">
              <a:rPr lang="en-IN" smtClean="0"/>
              <a:t>‹#›</a:t>
            </a:fld>
            <a:endParaRPr lang="en-IN"/>
          </a:p>
        </p:txBody>
      </p:sp>
    </p:spTree>
    <p:extLst>
      <p:ext uri="{BB962C8B-B14F-4D97-AF65-F5344CB8AC3E}">
        <p14:creationId xmlns:p14="http://schemas.microsoft.com/office/powerpoint/2010/main" val="104352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C79E7-CED5-F267-0E37-8A2F35477789}"/>
              </a:ext>
            </a:extLst>
          </p:cNvPr>
          <p:cNvSpPr>
            <a:spLocks noGrp="1"/>
          </p:cNvSpPr>
          <p:nvPr>
            <p:ph type="ctrTitle"/>
          </p:nvPr>
        </p:nvSpPr>
        <p:spPr>
          <a:xfrm>
            <a:off x="626533" y="145707"/>
            <a:ext cx="10777566" cy="2345131"/>
          </a:xfrm>
        </p:spPr>
        <p:txBody>
          <a:bodyPr>
            <a:noAutofit/>
          </a:bodyPr>
          <a:lstStyle/>
          <a:p>
            <a:r>
              <a:rPr lang="en-US" sz="7200" b="1" dirty="0">
                <a:solidFill>
                  <a:schemeClr val="bg1"/>
                </a:solidFill>
                <a:latin typeface="Rockwell"/>
              </a:rPr>
              <a:t>GAP RANKERS</a:t>
            </a:r>
            <a:r>
              <a:rPr lang="en-US" sz="7200" dirty="0">
                <a:solidFill>
                  <a:schemeClr val="bg1"/>
                </a:solidFill>
              </a:rPr>
              <a:t> </a:t>
            </a:r>
            <a:br>
              <a:rPr lang="en-US" sz="7200" dirty="0"/>
            </a:br>
            <a:r>
              <a:rPr lang="en-US" sz="3200" b="1" dirty="0">
                <a:solidFill>
                  <a:schemeClr val="bg1"/>
                </a:solidFill>
                <a:latin typeface="Gill Sans MT"/>
              </a:rPr>
              <a:t>“Turn Academic Gaps Into Competitive Growth.”</a:t>
            </a:r>
            <a:endParaRPr lang="en-IN" sz="3200" b="1" dirty="0">
              <a:solidFill>
                <a:schemeClr val="bg1"/>
              </a:solidFill>
              <a:latin typeface="Gill Sans MT"/>
            </a:endParaRPr>
          </a:p>
        </p:txBody>
      </p:sp>
      <p:sp>
        <p:nvSpPr>
          <p:cNvPr id="3" name="TextBox 2">
            <a:extLst>
              <a:ext uri="{FF2B5EF4-FFF2-40B4-BE49-F238E27FC236}">
                <a16:creationId xmlns:a16="http://schemas.microsoft.com/office/drawing/2014/main" id="{BDA7D635-50C7-7177-0E29-48A049895B6A}"/>
              </a:ext>
            </a:extLst>
          </p:cNvPr>
          <p:cNvSpPr txBox="1"/>
          <p:nvPr/>
        </p:nvSpPr>
        <p:spPr>
          <a:xfrm>
            <a:off x="1381707" y="2822733"/>
            <a:ext cx="8265089" cy="3077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solidFill>
                  <a:schemeClr val="bg1"/>
                </a:solidFill>
                <a:latin typeface="Comic Sans MS"/>
              </a:rPr>
              <a:t>Team Members</a:t>
            </a:r>
            <a:r>
              <a:rPr lang="en-US" sz="3200" dirty="0">
                <a:solidFill>
                  <a:schemeClr val="bg1"/>
                </a:solidFill>
                <a:latin typeface="Comic Sans MS"/>
              </a:rPr>
              <a:t>-</a:t>
            </a:r>
            <a:br>
              <a:rPr lang="en-US" sz="3200" dirty="0">
                <a:latin typeface="Comic Sans MS"/>
              </a:rPr>
            </a:br>
            <a:r>
              <a:rPr lang="en-US" sz="2800" dirty="0">
                <a:solidFill>
                  <a:schemeClr val="bg1"/>
                </a:solidFill>
                <a:latin typeface="Comic Sans MS"/>
              </a:rPr>
              <a:t>Archi Gupta</a:t>
            </a:r>
            <a:br>
              <a:rPr lang="en-US" sz="2800" dirty="0">
                <a:latin typeface="Comic Sans MS"/>
              </a:rPr>
            </a:br>
            <a:r>
              <a:rPr lang="en-US" sz="2800" dirty="0">
                <a:solidFill>
                  <a:schemeClr val="bg1"/>
                </a:solidFill>
                <a:latin typeface="Comic Sans MS"/>
              </a:rPr>
              <a:t>Divya Jangir</a:t>
            </a:r>
            <a:br>
              <a:rPr lang="en-US" sz="2800" dirty="0">
                <a:latin typeface="Comic Sans MS"/>
              </a:rPr>
            </a:br>
            <a:r>
              <a:rPr lang="en-US" sz="2800" dirty="0">
                <a:solidFill>
                  <a:schemeClr val="bg1"/>
                </a:solidFill>
                <a:latin typeface="Comic Sans MS"/>
              </a:rPr>
              <a:t>Sneha Bharati</a:t>
            </a:r>
            <a:br>
              <a:rPr lang="en-US" sz="2800" dirty="0">
                <a:latin typeface="Comic Sans MS"/>
              </a:rPr>
            </a:br>
            <a:r>
              <a:rPr lang="en-US" sz="2800" dirty="0">
                <a:solidFill>
                  <a:schemeClr val="bg1"/>
                </a:solidFill>
                <a:latin typeface="Comic Sans MS"/>
              </a:rPr>
              <a:t>Siddhi </a:t>
            </a:r>
            <a:r>
              <a:rPr lang="en-US" sz="2800" dirty="0" err="1">
                <a:solidFill>
                  <a:schemeClr val="bg1"/>
                </a:solidFill>
                <a:latin typeface="Comic Sans MS"/>
              </a:rPr>
              <a:t>Suryawanshi</a:t>
            </a:r>
            <a:br>
              <a:rPr lang="en-US" sz="2800" dirty="0">
                <a:latin typeface="Comic Sans MS"/>
              </a:rPr>
            </a:br>
            <a:endParaRPr lang="en-US" sz="2800" b="1" dirty="0">
              <a:solidFill>
                <a:schemeClr val="bg1"/>
              </a:solidFill>
              <a:latin typeface="Comic Sans MS"/>
            </a:endParaRPr>
          </a:p>
          <a:p>
            <a:pPr algn="l"/>
            <a:endParaRPr lang="en-US" dirty="0"/>
          </a:p>
        </p:txBody>
      </p:sp>
    </p:spTree>
    <p:extLst>
      <p:ext uri="{BB962C8B-B14F-4D97-AF65-F5344CB8AC3E}">
        <p14:creationId xmlns:p14="http://schemas.microsoft.com/office/powerpoint/2010/main" val="68626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8EE9D-CEB7-4DF5-25BE-CB78DB094100}"/>
              </a:ext>
            </a:extLst>
          </p:cNvPr>
          <p:cNvSpPr>
            <a:spLocks noGrp="1"/>
          </p:cNvSpPr>
          <p:nvPr>
            <p:ph type="title"/>
          </p:nvPr>
        </p:nvSpPr>
        <p:spPr>
          <a:xfrm>
            <a:off x="838200" y="1405596"/>
            <a:ext cx="10515600" cy="4086282"/>
          </a:xfrm>
        </p:spPr>
        <p:txBody>
          <a:bodyPr>
            <a:noAutofit/>
          </a:bodyPr>
          <a:lstStyle/>
          <a:p>
            <a:r>
              <a:rPr lang="en-US" sz="3600" b="1" dirty="0">
                <a:solidFill>
                  <a:schemeClr val="bg1"/>
                </a:solidFill>
              </a:rPr>
              <a:t>The main Problem in our Campus is  </a:t>
            </a:r>
            <a:r>
              <a:rPr lang="en-US" sz="3600" dirty="0">
                <a:solidFill>
                  <a:schemeClr val="bg1"/>
                </a:solidFill>
              </a:rPr>
              <a:t>:</a:t>
            </a:r>
            <a:br>
              <a:rPr lang="en-US" sz="3600" dirty="0">
                <a:solidFill>
                  <a:schemeClr val="bg1"/>
                </a:solidFill>
              </a:rPr>
            </a:br>
            <a:br>
              <a:rPr lang="en-US" sz="2400" dirty="0"/>
            </a:br>
            <a:r>
              <a:rPr lang="en-US" sz="2400" dirty="0">
                <a:solidFill>
                  <a:schemeClr val="bg1"/>
                </a:solidFill>
              </a:rPr>
              <a:t>1. Irregular class schedules</a:t>
            </a:r>
            <a:br>
              <a:rPr lang="en-US" sz="2400" dirty="0"/>
            </a:br>
            <a:r>
              <a:rPr lang="en-US" sz="2400" dirty="0">
                <a:solidFill>
                  <a:schemeClr val="bg1"/>
                </a:solidFill>
              </a:rPr>
              <a:t>2. 1–2 hour timetable gaps</a:t>
            </a:r>
            <a:br>
              <a:rPr lang="en-US" sz="2400" dirty="0"/>
            </a:br>
            <a:r>
              <a:rPr lang="en-US" sz="2400" dirty="0">
                <a:solidFill>
                  <a:schemeClr val="bg1"/>
                </a:solidFill>
              </a:rPr>
              <a:t>3.  20–30 minutes walking buffer</a:t>
            </a:r>
            <a:br>
              <a:rPr lang="en-US" sz="2400" dirty="0"/>
            </a:br>
            <a:r>
              <a:rPr lang="en-US" sz="2400" dirty="0">
                <a:solidFill>
                  <a:schemeClr val="bg1"/>
                </a:solidFill>
              </a:rPr>
              <a:t>4. Mental fatigue between lectures</a:t>
            </a:r>
            <a:br>
              <a:rPr lang="en-US" sz="2400" dirty="0"/>
            </a:br>
            <a:br>
              <a:rPr lang="en-US" sz="2400" dirty="0"/>
            </a:br>
            <a:r>
              <a:rPr lang="en-US" sz="3600" b="1" dirty="0">
                <a:solidFill>
                  <a:schemeClr val="bg1"/>
                </a:solidFill>
              </a:rPr>
              <a:t>What actually happens in these gaps?</a:t>
            </a:r>
            <a:br>
              <a:rPr lang="en-US" sz="3600" b="1" dirty="0">
                <a:solidFill>
                  <a:schemeClr val="bg1"/>
                </a:solidFill>
              </a:rPr>
            </a:br>
            <a:br>
              <a:rPr lang="en-US" sz="2400" b="1" dirty="0"/>
            </a:br>
            <a:r>
              <a:rPr lang="en-US" sz="2400" dirty="0">
                <a:solidFill>
                  <a:schemeClr val="bg1"/>
                </a:solidFill>
              </a:rPr>
              <a:t>Students open YouTube Shorts, Instagram Reels, or scroll aimlessly. They feel tired, but they haven’t done any meaningful work.</a:t>
            </a:r>
            <a:br>
              <a:rPr lang="en-US" dirty="0"/>
            </a:br>
            <a:br>
              <a:rPr lang="en-US" sz="2400" dirty="0"/>
            </a:br>
            <a:r>
              <a:rPr lang="en-US" sz="2400" b="1" dirty="0">
                <a:solidFill>
                  <a:schemeClr val="bg1"/>
                </a:solidFill>
              </a:rPr>
              <a:t>The issue is NOT:</a:t>
            </a:r>
            <a:br>
              <a:rPr lang="en-US" sz="2400" b="1" dirty="0"/>
            </a:br>
            <a:r>
              <a:rPr lang="en-US" sz="2400" dirty="0">
                <a:solidFill>
                  <a:schemeClr val="bg1"/>
                </a:solidFill>
              </a:rPr>
              <a:t>* Lack of intelligence</a:t>
            </a:r>
            <a:br>
              <a:rPr lang="en-US" sz="2400" dirty="0"/>
            </a:br>
            <a:r>
              <a:rPr lang="en-US" sz="2400" dirty="0">
                <a:solidFill>
                  <a:schemeClr val="bg1"/>
                </a:solidFill>
              </a:rPr>
              <a:t>* Lack of ambition</a:t>
            </a:r>
            <a:br>
              <a:rPr lang="en-US" sz="2400" dirty="0"/>
            </a:br>
            <a:r>
              <a:rPr lang="en-US" sz="2400" dirty="0">
                <a:solidFill>
                  <a:schemeClr val="bg1"/>
                </a:solidFill>
              </a:rPr>
              <a:t>* Lack of time</a:t>
            </a:r>
            <a:br>
              <a:rPr lang="en-US" sz="2400" dirty="0"/>
            </a:br>
            <a:br>
              <a:rPr lang="en-US" sz="2400" dirty="0"/>
            </a:br>
            <a:r>
              <a:rPr lang="en-US" sz="3200" b="1" dirty="0">
                <a:solidFill>
                  <a:schemeClr val="bg1"/>
                </a:solidFill>
              </a:rPr>
              <a:t>The real issue is :  Unstructured Cognitive Transitions</a:t>
            </a:r>
            <a:endParaRPr lang="en-IN" sz="3200" b="1" dirty="0">
              <a:solidFill>
                <a:schemeClr val="bg1"/>
              </a:solidFill>
            </a:endParaRPr>
          </a:p>
        </p:txBody>
      </p:sp>
    </p:spTree>
    <p:extLst>
      <p:ext uri="{BB962C8B-B14F-4D97-AF65-F5344CB8AC3E}">
        <p14:creationId xmlns:p14="http://schemas.microsoft.com/office/powerpoint/2010/main" val="1964205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5878A-A4C0-7FEA-7C54-B983EAFAF4BB}"/>
              </a:ext>
            </a:extLst>
          </p:cNvPr>
          <p:cNvSpPr>
            <a:spLocks noGrp="1"/>
          </p:cNvSpPr>
          <p:nvPr>
            <p:ph type="title"/>
          </p:nvPr>
        </p:nvSpPr>
        <p:spPr>
          <a:xfrm>
            <a:off x="841563" y="2342730"/>
            <a:ext cx="10515600" cy="1325563"/>
          </a:xfrm>
        </p:spPr>
        <p:txBody>
          <a:bodyPr>
            <a:normAutofit fontScale="90000"/>
          </a:bodyPr>
          <a:lstStyle/>
          <a:p>
            <a:r>
              <a:rPr lang="en-IN" dirty="0"/>
              <a:t> </a:t>
            </a:r>
            <a:r>
              <a:rPr lang="en-IN" sz="3200" dirty="0"/>
              <a:t>                                 </a:t>
            </a:r>
            <a:br>
              <a:rPr lang="en-IN" sz="3200" dirty="0"/>
            </a:br>
            <a:r>
              <a:rPr lang="en-IN" b="1" dirty="0">
                <a:solidFill>
                  <a:schemeClr val="bg1"/>
                </a:solidFill>
              </a:rPr>
              <a:t>Understanding Cognitive Drop</a:t>
            </a:r>
            <a:br>
              <a:rPr lang="en-IN" sz="3200" b="1" dirty="0"/>
            </a:br>
            <a:br>
              <a:rPr lang="en-IN" sz="3200" b="1" dirty="0"/>
            </a:br>
            <a:r>
              <a:rPr lang="en-IN" sz="2800" b="1" dirty="0">
                <a:solidFill>
                  <a:schemeClr val="bg1"/>
                </a:solidFill>
              </a:rPr>
              <a:t>When a class ends:</a:t>
            </a:r>
            <a:br>
              <a:rPr lang="en-IN" sz="2800" b="1" dirty="0"/>
            </a:br>
            <a:r>
              <a:rPr lang="en-IN" sz="2800" dirty="0">
                <a:solidFill>
                  <a:schemeClr val="bg1"/>
                </a:solidFill>
              </a:rPr>
              <a:t>1. Brain exits deep focus mode</a:t>
            </a:r>
            <a:br>
              <a:rPr lang="en-IN" sz="2800" dirty="0"/>
            </a:br>
            <a:r>
              <a:rPr lang="en-IN" sz="2800" dirty="0">
                <a:solidFill>
                  <a:schemeClr val="bg1"/>
                </a:solidFill>
              </a:rPr>
              <a:t>2. Dopamine seeks quick reward</a:t>
            </a:r>
            <a:br>
              <a:rPr lang="en-IN" sz="2800" dirty="0"/>
            </a:br>
            <a:r>
              <a:rPr lang="en-IN" sz="2800" dirty="0">
                <a:solidFill>
                  <a:schemeClr val="bg1"/>
                </a:solidFill>
              </a:rPr>
              <a:t>3. Student opens short-form content</a:t>
            </a:r>
            <a:br>
              <a:rPr lang="en-IN" sz="2800" dirty="0"/>
            </a:br>
            <a:r>
              <a:rPr lang="en-IN" sz="2800" dirty="0">
                <a:solidFill>
                  <a:schemeClr val="bg1"/>
                </a:solidFill>
              </a:rPr>
              <a:t>4. Attention fragments</a:t>
            </a:r>
            <a:br>
              <a:rPr lang="en-IN" sz="2800" dirty="0"/>
            </a:br>
            <a:r>
              <a:rPr lang="en-IN" sz="2800" dirty="0">
                <a:solidFill>
                  <a:schemeClr val="bg1"/>
                </a:solidFill>
              </a:rPr>
              <a:t>5. Next class begins with reduced cognitive sharpness</a:t>
            </a:r>
            <a:br>
              <a:rPr lang="en-IN" sz="2800" dirty="0"/>
            </a:br>
            <a:r>
              <a:rPr lang="en-IN" sz="2800" b="1" dirty="0">
                <a:solidFill>
                  <a:schemeClr val="bg1"/>
                </a:solidFill>
              </a:rPr>
              <a:t>This cycle repeats daily.</a:t>
            </a:r>
            <a:br>
              <a:rPr lang="en-IN" sz="2800" b="1" dirty="0"/>
            </a:br>
            <a:br>
              <a:rPr lang="en-IN" sz="2800" b="1" dirty="0"/>
            </a:br>
            <a:r>
              <a:rPr lang="en-IN" sz="3200" b="1" dirty="0">
                <a:solidFill>
                  <a:schemeClr val="bg1"/>
                </a:solidFill>
              </a:rPr>
              <a:t>Result:</a:t>
            </a:r>
            <a:br>
              <a:rPr lang="en-IN" sz="3200" b="1" dirty="0"/>
            </a:br>
            <a:r>
              <a:rPr lang="en-IN" sz="2800" b="1" dirty="0">
                <a:solidFill>
                  <a:schemeClr val="bg1"/>
                </a:solidFill>
              </a:rPr>
              <a:t>1.</a:t>
            </a:r>
            <a:r>
              <a:rPr lang="en-IN" sz="2800" dirty="0">
                <a:solidFill>
                  <a:schemeClr val="bg1"/>
                </a:solidFill>
              </a:rPr>
              <a:t> Reduced skill growth</a:t>
            </a:r>
            <a:br>
              <a:rPr lang="en-IN" sz="2800" dirty="0"/>
            </a:br>
            <a:r>
              <a:rPr lang="en-IN" sz="2800" dirty="0">
                <a:solidFill>
                  <a:schemeClr val="bg1"/>
                </a:solidFill>
              </a:rPr>
              <a:t>2. Low productive consistency</a:t>
            </a:r>
            <a:br>
              <a:rPr lang="en-IN" sz="2800" dirty="0"/>
            </a:br>
            <a:r>
              <a:rPr lang="en-IN" sz="2800" dirty="0">
                <a:solidFill>
                  <a:schemeClr val="bg1"/>
                </a:solidFill>
              </a:rPr>
              <a:t>3. False sense of busyness</a:t>
            </a:r>
            <a:br>
              <a:rPr lang="en-IN" sz="2800" dirty="0"/>
            </a:br>
            <a:br>
              <a:rPr lang="en-IN" sz="2800" dirty="0"/>
            </a:br>
            <a:r>
              <a:rPr lang="en-IN" sz="3200" b="1" dirty="0">
                <a:solidFill>
                  <a:schemeClr val="bg1"/>
                </a:solidFill>
              </a:rPr>
              <a:t>Students are active , but are not progressing.</a:t>
            </a:r>
          </a:p>
        </p:txBody>
      </p:sp>
    </p:spTree>
    <p:extLst>
      <p:ext uri="{BB962C8B-B14F-4D97-AF65-F5344CB8AC3E}">
        <p14:creationId xmlns:p14="http://schemas.microsoft.com/office/powerpoint/2010/main" val="2712372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CF845-38F5-F9DA-93BD-5FEE3D3AA014}"/>
              </a:ext>
            </a:extLst>
          </p:cNvPr>
          <p:cNvSpPr>
            <a:spLocks noGrp="1"/>
          </p:cNvSpPr>
          <p:nvPr>
            <p:ph type="title"/>
          </p:nvPr>
        </p:nvSpPr>
        <p:spPr>
          <a:xfrm>
            <a:off x="598119" y="1741829"/>
            <a:ext cx="10755681" cy="2348521"/>
          </a:xfrm>
        </p:spPr>
        <p:txBody>
          <a:bodyPr>
            <a:normAutofit fontScale="90000"/>
          </a:bodyPr>
          <a:lstStyle/>
          <a:p>
            <a:r>
              <a:rPr lang="en-US" b="1" dirty="0">
                <a:solidFill>
                  <a:schemeClr val="bg1"/>
                </a:solidFill>
              </a:rPr>
              <a:t>Opportunity Hidden Inside Gaps</a:t>
            </a:r>
            <a:br>
              <a:rPr lang="en-US" sz="3200" b="1" dirty="0"/>
            </a:br>
            <a:br>
              <a:rPr lang="en-US" sz="3200" dirty="0"/>
            </a:br>
            <a:r>
              <a:rPr lang="en-US" sz="2800" b="1" dirty="0">
                <a:solidFill>
                  <a:schemeClr val="bg1"/>
                </a:solidFill>
              </a:rPr>
              <a:t>A typical student has:</a:t>
            </a:r>
            <a:br>
              <a:rPr lang="en-US" sz="2800" b="1" dirty="0"/>
            </a:br>
            <a:r>
              <a:rPr lang="en-US" sz="2800" b="1" dirty="0">
                <a:solidFill>
                  <a:schemeClr val="bg1"/>
                </a:solidFill>
              </a:rPr>
              <a:t>1.</a:t>
            </a:r>
            <a:r>
              <a:rPr lang="en-US" sz="2800" dirty="0">
                <a:solidFill>
                  <a:schemeClr val="bg1"/>
                </a:solidFill>
              </a:rPr>
              <a:t> 2–3  usable gaps(1-2hour) per slot</a:t>
            </a:r>
            <a:br>
              <a:rPr lang="en-US" sz="2800" dirty="0"/>
            </a:br>
            <a:r>
              <a:rPr lang="en-US" sz="2800" dirty="0">
                <a:solidFill>
                  <a:schemeClr val="bg1"/>
                </a:solidFill>
              </a:rPr>
              <a:t>2. 45–90 minutes per gap</a:t>
            </a:r>
            <a:br>
              <a:rPr lang="en-US" sz="2800" dirty="0"/>
            </a:br>
            <a:r>
              <a:rPr lang="en-US" sz="2800" dirty="0">
                <a:solidFill>
                  <a:schemeClr val="bg1"/>
                </a:solidFill>
              </a:rPr>
              <a:t>3. ~3–4 hours of potential growth time daily</a:t>
            </a:r>
            <a:br>
              <a:rPr lang="en-US" sz="2800" dirty="0"/>
            </a:br>
            <a:br>
              <a:rPr lang="en-US" sz="2800" dirty="0"/>
            </a:br>
            <a:r>
              <a:rPr lang="en-US" sz="2800" dirty="0">
                <a:solidFill>
                  <a:schemeClr val="bg1"/>
                </a:solidFill>
              </a:rPr>
              <a:t>That equals: 15–20 hours per week of recoverable cognitive opportunity.</a:t>
            </a:r>
            <a:br>
              <a:rPr lang="en-US" sz="2800" dirty="0"/>
            </a:br>
            <a:br>
              <a:rPr lang="en-US" sz="3200" dirty="0"/>
            </a:br>
            <a:r>
              <a:rPr lang="en-US" sz="3200" b="1" dirty="0">
                <a:solidFill>
                  <a:schemeClr val="bg1"/>
                </a:solidFill>
              </a:rPr>
              <a:t>What if we structured those gaps?</a:t>
            </a:r>
            <a:br>
              <a:rPr lang="en-US" sz="3200" b="1" dirty="0">
                <a:solidFill>
                  <a:schemeClr val="bg1"/>
                </a:solidFill>
              </a:rPr>
            </a:br>
            <a:br>
              <a:rPr lang="en-US" sz="3200" b="1" dirty="0"/>
            </a:br>
            <a:r>
              <a:rPr lang="en-US" sz="2800" dirty="0">
                <a:solidFill>
                  <a:schemeClr val="bg1"/>
                </a:solidFill>
              </a:rPr>
              <a:t>Not with motivation.</a:t>
            </a:r>
            <a:br>
              <a:rPr lang="en-US" sz="2800" dirty="0"/>
            </a:br>
            <a:r>
              <a:rPr lang="en-US" sz="2800" dirty="0">
                <a:solidFill>
                  <a:schemeClr val="bg1"/>
                </a:solidFill>
              </a:rPr>
              <a:t>Not with discipline.</a:t>
            </a:r>
            <a:br>
              <a:rPr lang="en-US" sz="2800" dirty="0"/>
            </a:br>
            <a:r>
              <a:rPr lang="en-US" sz="2800" dirty="0">
                <a:solidFill>
                  <a:schemeClr val="bg1"/>
                </a:solidFill>
              </a:rPr>
              <a:t>But with system design.</a:t>
            </a:r>
            <a:endParaRPr lang="en-IN" sz="2800" dirty="0">
              <a:solidFill>
                <a:schemeClr val="bg1"/>
              </a:solidFill>
            </a:endParaRPr>
          </a:p>
        </p:txBody>
      </p:sp>
    </p:spTree>
    <p:extLst>
      <p:ext uri="{BB962C8B-B14F-4D97-AF65-F5344CB8AC3E}">
        <p14:creationId xmlns:p14="http://schemas.microsoft.com/office/powerpoint/2010/main" val="1946077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78D9F-CDBB-ABD4-A305-EC1CC8707C7D}"/>
              </a:ext>
            </a:extLst>
          </p:cNvPr>
          <p:cNvSpPr>
            <a:spLocks noGrp="1"/>
          </p:cNvSpPr>
          <p:nvPr>
            <p:ph type="title"/>
          </p:nvPr>
        </p:nvSpPr>
        <p:spPr>
          <a:xfrm>
            <a:off x="848407" y="1499659"/>
            <a:ext cx="10640860" cy="2338083"/>
          </a:xfrm>
        </p:spPr>
        <p:txBody>
          <a:bodyPr>
            <a:normAutofit fontScale="90000"/>
          </a:bodyPr>
          <a:lstStyle/>
          <a:p>
            <a:br>
              <a:rPr lang="en-IN" dirty="0"/>
            </a:br>
            <a:br>
              <a:rPr lang="en-IN" dirty="0"/>
            </a:br>
            <a:r>
              <a:rPr lang="en-IN" b="1" dirty="0">
                <a:solidFill>
                  <a:schemeClr val="bg1"/>
                </a:solidFill>
              </a:rPr>
              <a:t>Introducing:  GAP RANKERS</a:t>
            </a:r>
            <a:br>
              <a:rPr lang="en-IN" sz="3200" b="1" dirty="0"/>
            </a:br>
            <a:br>
              <a:rPr lang="en-IN" sz="3200" dirty="0"/>
            </a:br>
            <a:r>
              <a:rPr lang="en-IN" sz="2800" b="1" dirty="0">
                <a:solidFill>
                  <a:schemeClr val="bg1"/>
                </a:solidFill>
              </a:rPr>
              <a:t>A browser-based attention infrastructure that:</a:t>
            </a:r>
            <a:br>
              <a:rPr lang="en-IN" sz="2800" b="1" dirty="0">
                <a:solidFill>
                  <a:schemeClr val="bg1"/>
                </a:solidFill>
              </a:rPr>
            </a:br>
            <a:br>
              <a:rPr lang="en-IN" sz="2800" b="1" dirty="0"/>
            </a:br>
            <a:r>
              <a:rPr lang="en-IN" sz="2800" dirty="0">
                <a:solidFill>
                  <a:schemeClr val="bg1"/>
                </a:solidFill>
              </a:rPr>
              <a:t>1. Detects timetable gaps</a:t>
            </a:r>
            <a:br>
              <a:rPr lang="en-IN" sz="2800" dirty="0"/>
            </a:br>
            <a:r>
              <a:rPr lang="en-IN" sz="2800" dirty="0">
                <a:solidFill>
                  <a:schemeClr val="bg1"/>
                </a:solidFill>
              </a:rPr>
              <a:t>2. Converts them into structured micro-sprints</a:t>
            </a:r>
            <a:br>
              <a:rPr lang="en-IN" sz="2800" dirty="0"/>
            </a:br>
            <a:r>
              <a:rPr lang="en-IN" sz="2800" dirty="0">
                <a:solidFill>
                  <a:schemeClr val="bg1"/>
                </a:solidFill>
              </a:rPr>
              <a:t>3. Monitors engagement</a:t>
            </a:r>
            <a:br>
              <a:rPr lang="en-IN" sz="2800" dirty="0"/>
            </a:br>
            <a:r>
              <a:rPr lang="en-IN" sz="2800" dirty="0">
                <a:solidFill>
                  <a:schemeClr val="bg1"/>
                </a:solidFill>
              </a:rPr>
              <a:t>4. Measures Focus Efficiency</a:t>
            </a:r>
            <a:br>
              <a:rPr lang="en-IN" sz="2800" dirty="0"/>
            </a:br>
            <a:r>
              <a:rPr lang="en-IN" sz="2800" dirty="0">
                <a:solidFill>
                  <a:schemeClr val="bg1"/>
                </a:solidFill>
              </a:rPr>
              <a:t>5. Builds branch-wise and year-wise competitive growth</a:t>
            </a:r>
            <a:br>
              <a:rPr lang="en-IN" sz="2800" dirty="0"/>
            </a:br>
            <a:br>
              <a:rPr lang="en-IN" sz="3200" dirty="0"/>
            </a:br>
            <a:r>
              <a:rPr lang="en-IN" b="1" dirty="0">
                <a:solidFill>
                  <a:schemeClr val="bg1"/>
                </a:solidFill>
                <a:latin typeface="Comic Sans MS"/>
              </a:rPr>
              <a:t>  We do not reward screen time.</a:t>
            </a:r>
            <a:br>
              <a:rPr lang="en-IN" b="1" dirty="0">
                <a:latin typeface="Comic Sans MS"/>
              </a:rPr>
            </a:br>
            <a:r>
              <a:rPr lang="en-IN" b="1" dirty="0">
                <a:solidFill>
                  <a:schemeClr val="bg1"/>
                </a:solidFill>
                <a:latin typeface="Comic Sans MS"/>
              </a:rPr>
              <a:t>   We reward cognitive output.</a:t>
            </a:r>
          </a:p>
        </p:txBody>
      </p:sp>
    </p:spTree>
    <p:extLst>
      <p:ext uri="{BB962C8B-B14F-4D97-AF65-F5344CB8AC3E}">
        <p14:creationId xmlns:p14="http://schemas.microsoft.com/office/powerpoint/2010/main" val="626788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B066F-12D6-412B-28C0-E4D3549D6EB5}"/>
              </a:ext>
            </a:extLst>
          </p:cNvPr>
          <p:cNvSpPr>
            <a:spLocks noGrp="1"/>
          </p:cNvSpPr>
          <p:nvPr>
            <p:ph type="title"/>
          </p:nvPr>
        </p:nvSpPr>
        <p:spPr>
          <a:xfrm>
            <a:off x="806885" y="1550458"/>
            <a:ext cx="10546915" cy="2233699"/>
          </a:xfrm>
        </p:spPr>
        <p:txBody>
          <a:bodyPr>
            <a:normAutofit fontScale="90000"/>
          </a:bodyPr>
          <a:lstStyle/>
          <a:p>
            <a:br>
              <a:rPr lang="en-IN" dirty="0"/>
            </a:br>
            <a:br>
              <a:rPr lang="en-IN" sz="3200" dirty="0"/>
            </a:br>
            <a:br>
              <a:rPr lang="en-IN" sz="3200" dirty="0"/>
            </a:br>
            <a:r>
              <a:rPr lang="en-IN" b="1" dirty="0">
                <a:solidFill>
                  <a:schemeClr val="bg1"/>
                </a:solidFill>
              </a:rPr>
              <a:t>Why Web-Based?</a:t>
            </a:r>
            <a:br>
              <a:rPr lang="en-IN" sz="3200" b="1" dirty="0"/>
            </a:br>
            <a:br>
              <a:rPr lang="en-IN" sz="3200" dirty="0"/>
            </a:br>
            <a:r>
              <a:rPr lang="en-IN" sz="3600" b="1" dirty="0">
                <a:solidFill>
                  <a:schemeClr val="bg1"/>
                </a:solidFill>
              </a:rPr>
              <a:t>We chose a Web Application because:</a:t>
            </a:r>
            <a:br>
              <a:rPr lang="en-IN" sz="3600" b="1" dirty="0"/>
            </a:br>
            <a:r>
              <a:rPr lang="en-IN" sz="3600" dirty="0">
                <a:solidFill>
                  <a:schemeClr val="bg1"/>
                </a:solidFill>
              </a:rPr>
              <a:t>1. No installation barrier</a:t>
            </a:r>
            <a:br>
              <a:rPr lang="en-IN" sz="3600" dirty="0">
                <a:solidFill>
                  <a:schemeClr val="bg1"/>
                </a:solidFill>
              </a:rPr>
            </a:br>
            <a:r>
              <a:rPr lang="en-IN" sz="3600" dirty="0">
                <a:solidFill>
                  <a:schemeClr val="bg1"/>
                </a:solidFill>
              </a:rPr>
              <a:t>2. Accessible on any device</a:t>
            </a:r>
            <a:br>
              <a:rPr lang="en-IN" sz="3600" dirty="0"/>
            </a:br>
            <a:r>
              <a:rPr lang="en-IN" sz="3600" dirty="0">
                <a:solidFill>
                  <a:schemeClr val="bg1"/>
                </a:solidFill>
              </a:rPr>
              <a:t>3. Easy deployment during hackathon</a:t>
            </a:r>
            <a:br>
              <a:rPr lang="en-IN" sz="3600" dirty="0"/>
            </a:br>
            <a:r>
              <a:rPr lang="en-IN" sz="3600" dirty="0">
                <a:solidFill>
                  <a:schemeClr val="bg1"/>
                </a:solidFill>
              </a:rPr>
              <a:t>4. Real-time leaderboard system</a:t>
            </a:r>
            <a:br>
              <a:rPr lang="en-IN" sz="3600" dirty="0"/>
            </a:br>
            <a:r>
              <a:rPr lang="en-IN" sz="3600" dirty="0">
                <a:solidFill>
                  <a:schemeClr val="bg1"/>
                </a:solidFill>
              </a:rPr>
              <a:t>5. Scalable using GitHub</a:t>
            </a:r>
            <a:br>
              <a:rPr lang="en-IN" sz="2800" dirty="0"/>
            </a:br>
            <a:br>
              <a:rPr lang="en-IN" sz="2800" dirty="0"/>
            </a:br>
            <a:r>
              <a:rPr lang="en-IN" b="1" dirty="0">
                <a:solidFill>
                  <a:schemeClr val="bg1"/>
                </a:solidFill>
              </a:rPr>
              <a:t>Tech Stack:</a:t>
            </a:r>
            <a:br>
              <a:rPr lang="en-IN" sz="2800" b="1" dirty="0"/>
            </a:br>
            <a:r>
              <a:rPr lang="en-IN" sz="3600" b="1" dirty="0">
                <a:solidFill>
                  <a:schemeClr val="bg1"/>
                </a:solidFill>
              </a:rPr>
              <a:t>Frontend</a:t>
            </a:r>
            <a:r>
              <a:rPr lang="en-IN" sz="3600" dirty="0">
                <a:solidFill>
                  <a:schemeClr val="bg1"/>
                </a:solidFill>
              </a:rPr>
              <a:t>-  HTML/CSS/JavaScript OR React.js</a:t>
            </a:r>
            <a:br>
              <a:rPr lang="en-IN" sz="3600" dirty="0"/>
            </a:br>
            <a:r>
              <a:rPr lang="en-IN" sz="3600" b="1" dirty="0">
                <a:solidFill>
                  <a:schemeClr val="bg1"/>
                </a:solidFill>
              </a:rPr>
              <a:t>Backend</a:t>
            </a:r>
            <a:r>
              <a:rPr lang="en-IN" sz="3600" dirty="0">
                <a:solidFill>
                  <a:schemeClr val="bg1"/>
                </a:solidFill>
              </a:rPr>
              <a:t>-  Firebase Authentication</a:t>
            </a:r>
            <a:br>
              <a:rPr lang="en-IN" sz="3600" dirty="0"/>
            </a:br>
            <a:r>
              <a:rPr lang="en-IN" sz="3600" dirty="0">
                <a:solidFill>
                  <a:schemeClr val="bg1"/>
                </a:solidFill>
              </a:rPr>
              <a:t>                       Fire-store Database</a:t>
            </a:r>
            <a:br>
              <a:rPr lang="en-IN" sz="3600" dirty="0"/>
            </a:br>
            <a:r>
              <a:rPr lang="en-IN" sz="3600" dirty="0">
                <a:solidFill>
                  <a:schemeClr val="bg1"/>
                </a:solidFill>
              </a:rPr>
              <a:t>                       Cloud Functions</a:t>
            </a:r>
          </a:p>
        </p:txBody>
      </p:sp>
    </p:spTree>
    <p:extLst>
      <p:ext uri="{BB962C8B-B14F-4D97-AF65-F5344CB8AC3E}">
        <p14:creationId xmlns:p14="http://schemas.microsoft.com/office/powerpoint/2010/main" val="3221878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794A-5D81-2FBF-3845-2A92E12D1A35}"/>
              </a:ext>
            </a:extLst>
          </p:cNvPr>
          <p:cNvSpPr>
            <a:spLocks noGrp="1"/>
          </p:cNvSpPr>
          <p:nvPr>
            <p:ph type="title"/>
          </p:nvPr>
        </p:nvSpPr>
        <p:spPr>
          <a:xfrm>
            <a:off x="1185334" y="2261658"/>
            <a:ext cx="10515600" cy="1325563"/>
          </a:xfrm>
        </p:spPr>
        <p:txBody>
          <a:bodyPr>
            <a:normAutofit fontScale="90000"/>
          </a:bodyPr>
          <a:lstStyle/>
          <a:p>
            <a:br>
              <a:rPr lang="en-IN" sz="3200" b="1" dirty="0">
                <a:solidFill>
                  <a:schemeClr val="bg1"/>
                </a:solidFill>
              </a:rPr>
            </a:br>
            <a:r>
              <a:rPr lang="en-IN" b="1" dirty="0">
                <a:solidFill>
                  <a:schemeClr val="bg1"/>
                </a:solidFill>
              </a:rPr>
              <a:t>User Flow – Login &amp; Onboarding</a:t>
            </a:r>
            <a:br>
              <a:rPr lang="en-IN" sz="3200" b="1" dirty="0"/>
            </a:br>
            <a:br>
              <a:rPr lang="en-IN" sz="3200" b="1" dirty="0"/>
            </a:br>
            <a:r>
              <a:rPr lang="en-IN" sz="2800" b="1" dirty="0">
                <a:solidFill>
                  <a:schemeClr val="bg1"/>
                </a:solidFill>
              </a:rPr>
              <a:t>Step 1</a:t>
            </a:r>
            <a:r>
              <a:rPr lang="en-IN" sz="2800" dirty="0">
                <a:solidFill>
                  <a:schemeClr val="bg1"/>
                </a:solidFill>
              </a:rPr>
              <a:t>: User logs in via Google .</a:t>
            </a:r>
            <a:br>
              <a:rPr lang="en-IN" sz="2800" dirty="0"/>
            </a:br>
            <a:r>
              <a:rPr lang="en-IN" sz="2800" b="1" dirty="0">
                <a:solidFill>
                  <a:schemeClr val="bg1"/>
                </a:solidFill>
              </a:rPr>
              <a:t>Step 2</a:t>
            </a:r>
            <a:r>
              <a:rPr lang="en-IN" sz="2800" dirty="0">
                <a:solidFill>
                  <a:schemeClr val="bg1"/>
                </a:solidFill>
              </a:rPr>
              <a:t>: Onboarding collects:</a:t>
            </a:r>
            <a:br>
              <a:rPr lang="en-IN" sz="2800" dirty="0"/>
            </a:br>
            <a:r>
              <a:rPr lang="en-IN" sz="2800" dirty="0">
                <a:solidFill>
                  <a:schemeClr val="bg1"/>
                </a:solidFill>
              </a:rPr>
              <a:t>                  1. Branch</a:t>
            </a:r>
            <a:br>
              <a:rPr lang="en-IN" sz="2800" dirty="0"/>
            </a:br>
            <a:r>
              <a:rPr lang="en-IN" sz="2800" dirty="0">
                <a:solidFill>
                  <a:schemeClr val="bg1"/>
                </a:solidFill>
              </a:rPr>
              <a:t>                  2. Year</a:t>
            </a:r>
            <a:br>
              <a:rPr lang="en-IN" sz="2800" dirty="0"/>
            </a:br>
            <a:r>
              <a:rPr lang="en-IN" sz="2800" dirty="0">
                <a:solidFill>
                  <a:schemeClr val="bg1"/>
                </a:solidFill>
              </a:rPr>
              <a:t>                  3. Skill Level (Fresher / Intermediate / Advanced)</a:t>
            </a:r>
            <a:br>
              <a:rPr lang="en-IN" sz="2800" dirty="0"/>
            </a:br>
            <a:br>
              <a:rPr lang="en-IN" sz="2800" dirty="0"/>
            </a:br>
            <a:r>
              <a:rPr lang="en-IN" sz="2800" b="1" dirty="0">
                <a:solidFill>
                  <a:schemeClr val="bg1"/>
                </a:solidFill>
              </a:rPr>
              <a:t>This enables:</a:t>
            </a:r>
            <a:br>
              <a:rPr lang="en-IN" sz="2800" dirty="0"/>
            </a:br>
            <a:r>
              <a:rPr lang="en-IN" sz="2800" dirty="0">
                <a:solidFill>
                  <a:schemeClr val="bg1"/>
                </a:solidFill>
              </a:rPr>
              <a:t>1. Skill-calibrated problem generation</a:t>
            </a:r>
            <a:br>
              <a:rPr lang="en-IN" sz="2800" dirty="0"/>
            </a:br>
            <a:r>
              <a:rPr lang="en-IN" sz="2800" dirty="0">
                <a:solidFill>
                  <a:schemeClr val="bg1"/>
                </a:solidFill>
              </a:rPr>
              <a:t>2. Branch-wise leaderboard competition</a:t>
            </a:r>
            <a:br>
              <a:rPr lang="en-IN" sz="2800" dirty="0"/>
            </a:br>
            <a:r>
              <a:rPr lang="en-IN" sz="2800" dirty="0">
                <a:solidFill>
                  <a:schemeClr val="bg1"/>
                </a:solidFill>
              </a:rPr>
              <a:t>3. Difficulty adaptation engine</a:t>
            </a:r>
            <a:br>
              <a:rPr lang="en-IN" sz="2800" dirty="0"/>
            </a:br>
            <a:r>
              <a:rPr lang="en-IN" sz="2800" dirty="0">
                <a:solidFill>
                  <a:schemeClr val="bg1"/>
                </a:solidFill>
              </a:rPr>
              <a:t>   </a:t>
            </a:r>
            <a:br>
              <a:rPr lang="en-IN" sz="2800" dirty="0"/>
            </a:br>
            <a:r>
              <a:rPr lang="en-IN" sz="2800" dirty="0">
                <a:solidFill>
                  <a:schemeClr val="bg1"/>
                </a:solidFill>
              </a:rPr>
              <a:t> User profile is stored in Profile Section.</a:t>
            </a:r>
          </a:p>
        </p:txBody>
      </p:sp>
    </p:spTree>
    <p:extLst>
      <p:ext uri="{BB962C8B-B14F-4D97-AF65-F5344CB8AC3E}">
        <p14:creationId xmlns:p14="http://schemas.microsoft.com/office/powerpoint/2010/main" val="1054606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ABBEC-9CED-3183-82E3-509E25480B4D}"/>
              </a:ext>
            </a:extLst>
          </p:cNvPr>
          <p:cNvSpPr>
            <a:spLocks noGrp="1"/>
          </p:cNvSpPr>
          <p:nvPr>
            <p:ph type="title"/>
          </p:nvPr>
        </p:nvSpPr>
        <p:spPr>
          <a:xfrm>
            <a:off x="660400" y="2498725"/>
            <a:ext cx="10515600" cy="1325563"/>
          </a:xfrm>
        </p:spPr>
        <p:txBody>
          <a:bodyPr vert="horz" lIns="91440" tIns="45720" rIns="91440" bIns="45720" rtlCol="0" anchor="ctr">
            <a:noAutofit/>
          </a:bodyPr>
          <a:lstStyle/>
          <a:p>
            <a:r>
              <a:rPr lang="en-US" b="1" dirty="0">
                <a:solidFill>
                  <a:schemeClr val="bg1"/>
                </a:solidFill>
              </a:rPr>
              <a:t>Timetable Input Engine- </a:t>
            </a:r>
            <a:br>
              <a:rPr lang="en-US" sz="3200" b="1" dirty="0"/>
            </a:br>
            <a:br>
              <a:rPr lang="en-US" sz="2800" dirty="0"/>
            </a:br>
            <a:r>
              <a:rPr lang="en-US" sz="2800" b="1" dirty="0">
                <a:solidFill>
                  <a:schemeClr val="bg1"/>
                </a:solidFill>
              </a:rPr>
              <a:t>User manually enters:</a:t>
            </a:r>
            <a:br>
              <a:rPr lang="en-US" sz="2800" b="1" dirty="0">
                <a:solidFill>
                  <a:schemeClr val="bg1"/>
                </a:solidFill>
              </a:rPr>
            </a:br>
            <a:r>
              <a:rPr lang="en-US" sz="2800" dirty="0">
                <a:solidFill>
                  <a:schemeClr val="bg1"/>
                </a:solidFill>
              </a:rPr>
              <a:t>             1. Day-wise class schedule</a:t>
            </a:r>
            <a:br>
              <a:rPr lang="en-US" sz="2800" dirty="0"/>
            </a:br>
            <a:r>
              <a:rPr lang="en-US" sz="2800" dirty="0">
                <a:solidFill>
                  <a:schemeClr val="bg1"/>
                </a:solidFill>
              </a:rPr>
              <a:t>             2. Start time</a:t>
            </a:r>
            <a:br>
              <a:rPr lang="en-US" sz="2800" dirty="0"/>
            </a:br>
            <a:r>
              <a:rPr lang="en-US" sz="2800" dirty="0">
                <a:solidFill>
                  <a:schemeClr val="bg1"/>
                </a:solidFill>
              </a:rPr>
              <a:t>             3. End time</a:t>
            </a:r>
            <a:br>
              <a:rPr lang="en-US" sz="2800" dirty="0">
                <a:solidFill>
                  <a:schemeClr val="bg1"/>
                </a:solidFill>
              </a:rPr>
            </a:br>
            <a:br>
              <a:rPr lang="en-US" sz="2800" dirty="0"/>
            </a:br>
            <a:r>
              <a:rPr lang="en-US" sz="2800" b="1" dirty="0">
                <a:solidFill>
                  <a:schemeClr val="bg1"/>
                </a:solidFill>
              </a:rPr>
              <a:t>System calculates: </a:t>
            </a:r>
            <a:r>
              <a:rPr lang="en-US" sz="2800" dirty="0">
                <a:solidFill>
                  <a:schemeClr val="bg1"/>
                </a:solidFill>
              </a:rPr>
              <a:t>Gap = (Next class start – Previous class end) – Walking buffer</a:t>
            </a:r>
            <a:br>
              <a:rPr lang="en-US" sz="2800" dirty="0">
                <a:solidFill>
                  <a:schemeClr val="bg1"/>
                </a:solidFill>
              </a:rPr>
            </a:br>
            <a:br>
              <a:rPr lang="en-US" sz="2800" dirty="0"/>
            </a:br>
            <a:r>
              <a:rPr lang="en-US" sz="2800" dirty="0">
                <a:solidFill>
                  <a:schemeClr val="bg1"/>
                </a:solidFill>
              </a:rPr>
              <a:t>Walking buffer default = 30 minutes.</a:t>
            </a:r>
            <a:br>
              <a:rPr lang="en-US" sz="2800" dirty="0"/>
            </a:br>
            <a:r>
              <a:rPr lang="en-US" sz="2800" dirty="0">
                <a:solidFill>
                  <a:schemeClr val="bg1"/>
                </a:solidFill>
              </a:rPr>
              <a:t>Output:   “You have 42 minutes of cognitive opportunity.”</a:t>
            </a:r>
            <a:br>
              <a:rPr lang="en-US" sz="2800" dirty="0"/>
            </a:br>
            <a:r>
              <a:rPr lang="en-US" sz="2800" b="1" dirty="0">
                <a:solidFill>
                  <a:schemeClr val="bg1"/>
                </a:solidFill>
              </a:rPr>
              <a:t>We change psychological framing.</a:t>
            </a:r>
            <a:br>
              <a:rPr lang="en-US" sz="2800" b="1" dirty="0"/>
            </a:br>
            <a:r>
              <a:rPr lang="en-US" sz="2800" b="1" dirty="0">
                <a:solidFill>
                  <a:schemeClr val="bg1"/>
                </a:solidFill>
              </a:rPr>
              <a:t>Not “free time.”</a:t>
            </a:r>
            <a:br>
              <a:rPr lang="en-US" sz="2800" b="1" dirty="0"/>
            </a:br>
            <a:r>
              <a:rPr lang="en-US" sz="2800" b="1" dirty="0">
                <a:solidFill>
                  <a:schemeClr val="bg1"/>
                </a:solidFill>
              </a:rPr>
              <a:t>“Cognitive opportunity.”</a:t>
            </a:r>
            <a:endParaRPr lang="en-IN" sz="2800" b="1" dirty="0">
              <a:solidFill>
                <a:schemeClr val="bg1"/>
              </a:solidFill>
            </a:endParaRPr>
          </a:p>
        </p:txBody>
      </p:sp>
    </p:spTree>
    <p:extLst>
      <p:ext uri="{BB962C8B-B14F-4D97-AF65-F5344CB8AC3E}">
        <p14:creationId xmlns:p14="http://schemas.microsoft.com/office/powerpoint/2010/main" val="3912411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4E8FF-69DF-8244-D75D-B3BC8352A28E}"/>
              </a:ext>
            </a:extLst>
          </p:cNvPr>
          <p:cNvSpPr>
            <a:spLocks noGrp="1"/>
          </p:cNvSpPr>
          <p:nvPr>
            <p:ph type="title"/>
          </p:nvPr>
        </p:nvSpPr>
        <p:spPr>
          <a:xfrm>
            <a:off x="838200" y="2244724"/>
            <a:ext cx="10515600" cy="1325563"/>
          </a:xfrm>
        </p:spPr>
        <p:txBody>
          <a:bodyPr>
            <a:normAutofit fontScale="90000"/>
          </a:bodyPr>
          <a:lstStyle/>
          <a:p>
            <a:br>
              <a:rPr lang="en-IN" b="1" dirty="0">
                <a:solidFill>
                  <a:schemeClr val="bg1"/>
                </a:solidFill>
              </a:rPr>
            </a:br>
            <a:r>
              <a:rPr lang="en-IN" sz="4800" b="1" dirty="0">
                <a:solidFill>
                  <a:schemeClr val="bg1"/>
                </a:solidFill>
              </a:rPr>
              <a:t>Gap Detection Logic</a:t>
            </a:r>
            <a:br>
              <a:rPr lang="en-IN" sz="3200" b="1" dirty="0"/>
            </a:br>
            <a:br>
              <a:rPr lang="en-IN" sz="2800" dirty="0"/>
            </a:br>
            <a:r>
              <a:rPr lang="en-IN" sz="2800" b="1" dirty="0">
                <a:solidFill>
                  <a:schemeClr val="bg1"/>
                </a:solidFill>
              </a:rPr>
              <a:t>The system processes:</a:t>
            </a:r>
            <a:br>
              <a:rPr lang="en-IN" sz="2800" b="1" dirty="0"/>
            </a:br>
            <a:r>
              <a:rPr lang="en-IN" sz="2800" dirty="0">
                <a:solidFill>
                  <a:schemeClr val="bg1"/>
                </a:solidFill>
              </a:rPr>
              <a:t>1 Weekly schedule</a:t>
            </a:r>
            <a:br>
              <a:rPr lang="en-IN" sz="2800" dirty="0"/>
            </a:br>
            <a:r>
              <a:rPr lang="en-IN" sz="2800" dirty="0">
                <a:solidFill>
                  <a:schemeClr val="bg1"/>
                </a:solidFill>
              </a:rPr>
              <a:t>2. Gap durations</a:t>
            </a:r>
            <a:br>
              <a:rPr lang="en-IN" sz="2800" dirty="0"/>
            </a:br>
            <a:r>
              <a:rPr lang="en-IN" sz="2800" dirty="0">
                <a:solidFill>
                  <a:schemeClr val="bg1"/>
                </a:solidFill>
              </a:rPr>
              <a:t>3. Minimum usable threshold (≥25 minutes)</a:t>
            </a:r>
            <a:br>
              <a:rPr lang="en-IN" sz="2800" dirty="0"/>
            </a:br>
            <a:br>
              <a:rPr lang="en-IN" sz="2800" dirty="0"/>
            </a:br>
            <a:r>
              <a:rPr lang="en-IN" sz="2800" b="1" dirty="0">
                <a:solidFill>
                  <a:schemeClr val="bg1"/>
                </a:solidFill>
              </a:rPr>
              <a:t>For each valid gap</a:t>
            </a:r>
            <a:r>
              <a:rPr lang="en-IN" sz="2800" dirty="0">
                <a:solidFill>
                  <a:schemeClr val="bg1"/>
                </a:solidFill>
              </a:rPr>
              <a:t>:</a:t>
            </a:r>
            <a:br>
              <a:rPr lang="en-IN" sz="2800" dirty="0"/>
            </a:br>
            <a:r>
              <a:rPr lang="en-IN" sz="2800" dirty="0">
                <a:solidFill>
                  <a:schemeClr val="bg1"/>
                </a:solidFill>
              </a:rPr>
              <a:t>System creates: Micro-Sprint</a:t>
            </a:r>
            <a:br>
              <a:rPr lang="en-IN" sz="2800" dirty="0"/>
            </a:br>
            <a:br>
              <a:rPr lang="en-IN" sz="2800" dirty="0"/>
            </a:br>
            <a:r>
              <a:rPr lang="en-IN" sz="2800" b="1" dirty="0">
                <a:solidFill>
                  <a:schemeClr val="bg1"/>
                </a:solidFill>
              </a:rPr>
              <a:t>Suggestion based on:</a:t>
            </a:r>
            <a:br>
              <a:rPr lang="en-IN" sz="2800" b="1" dirty="0"/>
            </a:br>
            <a:r>
              <a:rPr lang="en-IN" sz="2800" dirty="0">
                <a:solidFill>
                  <a:schemeClr val="bg1"/>
                </a:solidFill>
              </a:rPr>
              <a:t>1. User level</a:t>
            </a:r>
            <a:br>
              <a:rPr lang="en-IN" sz="2800" dirty="0"/>
            </a:br>
            <a:r>
              <a:rPr lang="en-IN" sz="2800" dirty="0">
                <a:solidFill>
                  <a:schemeClr val="bg1"/>
                </a:solidFill>
              </a:rPr>
              <a:t>2. Previous performance</a:t>
            </a:r>
            <a:br>
              <a:rPr lang="en-IN" sz="2800" dirty="0"/>
            </a:br>
            <a:r>
              <a:rPr lang="en-IN" sz="2800" dirty="0">
                <a:solidFill>
                  <a:schemeClr val="bg1"/>
                </a:solidFill>
              </a:rPr>
              <a:t>3. Current FEI score</a:t>
            </a:r>
            <a:br>
              <a:rPr lang="en-IN" sz="2800" dirty="0"/>
            </a:br>
            <a:r>
              <a:rPr lang="en-IN" sz="2800" dirty="0">
                <a:solidFill>
                  <a:schemeClr val="bg1"/>
                </a:solidFill>
              </a:rPr>
              <a:t>This makes the experience adaptive and personalized.</a:t>
            </a:r>
          </a:p>
        </p:txBody>
      </p:sp>
    </p:spTree>
    <p:extLst>
      <p:ext uri="{BB962C8B-B14F-4D97-AF65-F5344CB8AC3E}">
        <p14:creationId xmlns:p14="http://schemas.microsoft.com/office/powerpoint/2010/main" val="524243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CAC6C-AD36-F26D-4F31-00B3600F119C}"/>
              </a:ext>
            </a:extLst>
          </p:cNvPr>
          <p:cNvSpPr>
            <a:spLocks noGrp="1"/>
          </p:cNvSpPr>
          <p:nvPr>
            <p:ph type="title"/>
          </p:nvPr>
        </p:nvSpPr>
        <p:spPr>
          <a:xfrm>
            <a:off x="677333" y="1525058"/>
            <a:ext cx="10515600" cy="3037453"/>
          </a:xfrm>
        </p:spPr>
        <p:txBody>
          <a:bodyPr>
            <a:normAutofit fontScale="90000"/>
          </a:bodyPr>
          <a:lstStyle/>
          <a:p>
            <a:br>
              <a:rPr lang="en-IN" sz="3200" b="1" dirty="0"/>
            </a:br>
            <a:r>
              <a:rPr lang="en-IN" sz="4800" b="1" dirty="0">
                <a:solidFill>
                  <a:schemeClr val="bg1"/>
                </a:solidFill>
              </a:rPr>
              <a:t>Dashboard Overview</a:t>
            </a:r>
            <a:br>
              <a:rPr lang="en-IN" sz="4000" b="1" dirty="0"/>
            </a:br>
            <a:br>
              <a:rPr lang="en-IN" sz="2800" dirty="0"/>
            </a:br>
            <a:r>
              <a:rPr lang="en-IN" sz="2800" b="1" dirty="0">
                <a:solidFill>
                  <a:schemeClr val="bg1"/>
                </a:solidFill>
              </a:rPr>
              <a:t>The dashboard displays</a:t>
            </a:r>
            <a:r>
              <a:rPr lang="en-IN" sz="2800" dirty="0">
                <a:solidFill>
                  <a:schemeClr val="bg1"/>
                </a:solidFill>
              </a:rPr>
              <a:t>:</a:t>
            </a:r>
            <a:br>
              <a:rPr lang="en-IN" sz="2800" dirty="0"/>
            </a:br>
            <a:r>
              <a:rPr lang="en-IN" sz="2800" dirty="0">
                <a:solidFill>
                  <a:schemeClr val="bg1"/>
                </a:solidFill>
              </a:rPr>
              <a:t>1. Today’s usable gaps</a:t>
            </a:r>
            <a:br>
              <a:rPr lang="en-IN" sz="2800" dirty="0"/>
            </a:br>
            <a:r>
              <a:rPr lang="en-IN" sz="2800" dirty="0">
                <a:solidFill>
                  <a:schemeClr val="bg1"/>
                </a:solidFill>
              </a:rPr>
              <a:t>2. Recommended sprint duration</a:t>
            </a:r>
            <a:br>
              <a:rPr lang="en-IN" sz="2800" dirty="0"/>
            </a:br>
            <a:r>
              <a:rPr lang="en-IN" sz="2800" dirty="0">
                <a:solidFill>
                  <a:schemeClr val="bg1"/>
                </a:solidFill>
              </a:rPr>
              <a:t>3. Weekly Focus Minutes</a:t>
            </a:r>
            <a:br>
              <a:rPr lang="en-IN" sz="2800" dirty="0"/>
            </a:br>
            <a:r>
              <a:rPr lang="en-IN" sz="2800" dirty="0">
                <a:solidFill>
                  <a:schemeClr val="bg1"/>
                </a:solidFill>
              </a:rPr>
              <a:t>4. Focus Efficiency Index (FEI)</a:t>
            </a:r>
            <a:br>
              <a:rPr lang="en-IN" sz="2800" dirty="0"/>
            </a:br>
            <a:r>
              <a:rPr lang="en-IN" sz="2800" dirty="0">
                <a:solidFill>
                  <a:schemeClr val="bg1"/>
                </a:solidFill>
              </a:rPr>
              <a:t>5. Current Rank in branch</a:t>
            </a:r>
            <a:br>
              <a:rPr lang="en-IN" sz="2800" dirty="0"/>
            </a:br>
            <a:br>
              <a:rPr lang="en-IN" sz="2800" dirty="0"/>
            </a:br>
            <a:br>
              <a:rPr lang="en-IN" sz="2800" dirty="0"/>
            </a:br>
            <a:r>
              <a:rPr lang="en-IN" sz="2800" b="1" dirty="0">
                <a:solidFill>
                  <a:schemeClr val="bg1"/>
                </a:solidFill>
              </a:rPr>
              <a:t>Example:</a:t>
            </a:r>
            <a:br>
              <a:rPr lang="en-IN" sz="2800" b="1" dirty="0"/>
            </a:br>
            <a:r>
              <a:rPr lang="en-IN" sz="2800" dirty="0">
                <a:solidFill>
                  <a:schemeClr val="bg1"/>
                </a:solidFill>
              </a:rPr>
              <a:t>FEI: 74%</a:t>
            </a:r>
            <a:br>
              <a:rPr lang="en-IN" sz="2800" dirty="0"/>
            </a:br>
            <a:r>
              <a:rPr lang="en-IN" sz="2800" dirty="0">
                <a:solidFill>
                  <a:schemeClr val="bg1"/>
                </a:solidFill>
              </a:rPr>
              <a:t>Weekly Focus: 210 minutes</a:t>
            </a:r>
            <a:br>
              <a:rPr lang="en-IN" sz="2800" dirty="0"/>
            </a:br>
            <a:r>
              <a:rPr lang="en-IN" sz="2800" dirty="0">
                <a:solidFill>
                  <a:schemeClr val="bg1"/>
                </a:solidFill>
              </a:rPr>
              <a:t>Rank: #6 in particular branch </a:t>
            </a:r>
            <a:br>
              <a:rPr lang="en-IN" sz="2800" dirty="0"/>
            </a:br>
            <a:br>
              <a:rPr lang="en-IN" sz="2800" dirty="0"/>
            </a:br>
            <a:r>
              <a:rPr lang="en-IN" sz="2800" dirty="0">
                <a:solidFill>
                  <a:schemeClr val="bg1"/>
                </a:solidFill>
              </a:rPr>
              <a:t>This creates visible measurable growth</a:t>
            </a:r>
          </a:p>
        </p:txBody>
      </p:sp>
    </p:spTree>
    <p:extLst>
      <p:ext uri="{BB962C8B-B14F-4D97-AF65-F5344CB8AC3E}">
        <p14:creationId xmlns:p14="http://schemas.microsoft.com/office/powerpoint/2010/main" val="881155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09224-2381-5CB3-8F52-6F021361A0A1}"/>
              </a:ext>
            </a:extLst>
          </p:cNvPr>
          <p:cNvSpPr>
            <a:spLocks noGrp="1"/>
          </p:cNvSpPr>
          <p:nvPr>
            <p:ph type="title"/>
          </p:nvPr>
        </p:nvSpPr>
        <p:spPr>
          <a:xfrm>
            <a:off x="945204" y="1474079"/>
            <a:ext cx="10515600" cy="3058330"/>
          </a:xfrm>
        </p:spPr>
        <p:txBody>
          <a:bodyPr vert="horz" lIns="91440" tIns="45720" rIns="91440" bIns="45720" rtlCol="0" anchor="ctr">
            <a:noAutofit/>
          </a:bodyPr>
          <a:lstStyle/>
          <a:p>
            <a:r>
              <a:rPr lang="en-IN" b="1" dirty="0">
                <a:solidFill>
                  <a:schemeClr val="bg1"/>
                </a:solidFill>
              </a:rPr>
              <a:t>Focus Sprint Mode (Core Feature)</a:t>
            </a:r>
            <a:br>
              <a:rPr lang="en-IN" sz="2800" b="1" dirty="0"/>
            </a:br>
            <a:br>
              <a:rPr lang="en-IN" sz="2800" b="1" dirty="0"/>
            </a:br>
            <a:r>
              <a:rPr lang="en-IN" sz="2800" dirty="0">
                <a:solidFill>
                  <a:schemeClr val="bg1"/>
                </a:solidFill>
              </a:rPr>
              <a:t>When user clicks “Start Focus Sprint”:</a:t>
            </a:r>
            <a:br>
              <a:rPr lang="en-IN" sz="2800" dirty="0"/>
            </a:br>
            <a:r>
              <a:rPr lang="en-IN" sz="2800" dirty="0">
                <a:solidFill>
                  <a:schemeClr val="bg1"/>
                </a:solidFill>
              </a:rPr>
              <a:t>1. Full-screen distraction-minimized interface</a:t>
            </a:r>
            <a:br>
              <a:rPr lang="en-IN" sz="2800" dirty="0"/>
            </a:br>
            <a:r>
              <a:rPr lang="en-IN" sz="2800" dirty="0">
                <a:solidFill>
                  <a:schemeClr val="bg1"/>
                </a:solidFill>
              </a:rPr>
              <a:t>2. 30-minute countdown timer</a:t>
            </a:r>
            <a:br>
              <a:rPr lang="en-IN" sz="2800" dirty="0"/>
            </a:br>
            <a:r>
              <a:rPr lang="en-IN" sz="2800" dirty="0">
                <a:solidFill>
                  <a:schemeClr val="bg1"/>
                </a:solidFill>
              </a:rPr>
              <a:t>3. 3 adaptive-level problems</a:t>
            </a:r>
            <a:br>
              <a:rPr lang="en-IN" sz="2800" dirty="0"/>
            </a:br>
            <a:r>
              <a:rPr lang="en-IN" sz="2800" dirty="0">
                <a:solidFill>
                  <a:schemeClr val="bg1"/>
                </a:solidFill>
              </a:rPr>
              <a:t>4. Built-in code editor or structured answer input</a:t>
            </a:r>
            <a:br>
              <a:rPr lang="en-IN" sz="2800" dirty="0"/>
            </a:br>
            <a:br>
              <a:rPr lang="en-IN" sz="2800" dirty="0"/>
            </a:br>
            <a:br>
              <a:rPr lang="en-IN" sz="2800" dirty="0"/>
            </a:br>
            <a:r>
              <a:rPr lang="en-IN" sz="2800" b="1" dirty="0">
                <a:solidFill>
                  <a:schemeClr val="bg1"/>
                </a:solidFill>
              </a:rPr>
              <a:t>The design philosophy</a:t>
            </a:r>
            <a:r>
              <a:rPr lang="en-IN" sz="2800" dirty="0">
                <a:solidFill>
                  <a:schemeClr val="bg1"/>
                </a:solidFill>
              </a:rPr>
              <a:t>:</a:t>
            </a:r>
            <a:br>
              <a:rPr lang="en-IN" sz="2800" dirty="0"/>
            </a:br>
            <a:r>
              <a:rPr lang="en-IN" sz="2800" dirty="0">
                <a:solidFill>
                  <a:schemeClr val="bg1"/>
                </a:solidFill>
              </a:rPr>
              <a:t>Minimal UI.</a:t>
            </a:r>
            <a:br>
              <a:rPr lang="en-IN" sz="2800" dirty="0"/>
            </a:br>
            <a:r>
              <a:rPr lang="en-IN" sz="2800" dirty="0">
                <a:solidFill>
                  <a:schemeClr val="bg1"/>
                </a:solidFill>
              </a:rPr>
              <a:t>Maximum cognition.</a:t>
            </a:r>
          </a:p>
        </p:txBody>
      </p:sp>
    </p:spTree>
    <p:extLst>
      <p:ext uri="{BB962C8B-B14F-4D97-AF65-F5344CB8AC3E}">
        <p14:creationId xmlns:p14="http://schemas.microsoft.com/office/powerpoint/2010/main" val="1950046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6B06E-4CF2-0670-C3A4-0885FC33C7E1}"/>
              </a:ext>
            </a:extLst>
          </p:cNvPr>
          <p:cNvSpPr>
            <a:spLocks noGrp="1"/>
          </p:cNvSpPr>
          <p:nvPr>
            <p:ph type="title"/>
          </p:nvPr>
        </p:nvSpPr>
        <p:spPr>
          <a:xfrm>
            <a:off x="441543" y="1198417"/>
            <a:ext cx="10912257" cy="3945589"/>
          </a:xfrm>
        </p:spPr>
        <p:txBody>
          <a:bodyPr>
            <a:normAutofit fontScale="90000"/>
          </a:bodyPr>
          <a:lstStyle/>
          <a:p>
            <a:r>
              <a:rPr lang="en-IN" dirty="0">
                <a:solidFill>
                  <a:schemeClr val="bg1"/>
                </a:solidFill>
              </a:rPr>
              <a:t> </a:t>
            </a:r>
            <a:r>
              <a:rPr lang="en-IN" b="1" dirty="0">
                <a:solidFill>
                  <a:schemeClr val="bg1"/>
                </a:solidFill>
              </a:rPr>
              <a:t>Anti-Cheat System – Layer 1 (Tab Monitoring)</a:t>
            </a:r>
            <a:br>
              <a:rPr lang="en-IN" b="1" dirty="0"/>
            </a:br>
            <a:br>
              <a:rPr lang="en-IN" dirty="0"/>
            </a:br>
            <a:r>
              <a:rPr lang="en-IN" sz="2800" b="1" dirty="0">
                <a:solidFill>
                  <a:schemeClr val="bg1"/>
                </a:solidFill>
              </a:rPr>
              <a:t>Using JavaScript Tab Visibility API:</a:t>
            </a:r>
            <a:br>
              <a:rPr lang="en-IN" sz="2800" b="1" dirty="0"/>
            </a:br>
            <a:br>
              <a:rPr lang="en-IN" sz="2800" dirty="0"/>
            </a:br>
            <a:r>
              <a:rPr lang="en-IN" sz="2800" dirty="0">
                <a:solidFill>
                  <a:schemeClr val="bg1"/>
                </a:solidFill>
              </a:rPr>
              <a:t>If user switches tabs:</a:t>
            </a:r>
            <a:br>
              <a:rPr lang="en-IN" sz="2800" dirty="0"/>
            </a:br>
            <a:r>
              <a:rPr lang="en-IN" sz="2800" dirty="0">
                <a:solidFill>
                  <a:schemeClr val="bg1"/>
                </a:solidFill>
              </a:rPr>
              <a:t>1. Session auto-pauses</a:t>
            </a:r>
            <a:br>
              <a:rPr lang="en-IN" sz="2800" dirty="0"/>
            </a:br>
            <a:r>
              <a:rPr lang="en-IN" sz="2800" dirty="0">
                <a:solidFill>
                  <a:schemeClr val="bg1"/>
                </a:solidFill>
              </a:rPr>
              <a:t>2. Warning appears</a:t>
            </a:r>
            <a:br>
              <a:rPr lang="en-IN" sz="2800" dirty="0"/>
            </a:br>
            <a:r>
              <a:rPr lang="en-IN" sz="2800" dirty="0">
                <a:solidFill>
                  <a:schemeClr val="bg1"/>
                </a:solidFill>
              </a:rPr>
              <a:t>3. Distraction counter increases</a:t>
            </a:r>
            <a:br>
              <a:rPr lang="en-IN" sz="2800" dirty="0"/>
            </a:br>
            <a:br>
              <a:rPr lang="en-IN" sz="2800" dirty="0"/>
            </a:br>
            <a:r>
              <a:rPr lang="en-IN" sz="2800" dirty="0">
                <a:solidFill>
                  <a:schemeClr val="bg1"/>
                </a:solidFill>
              </a:rPr>
              <a:t>Repeated tab switches:</a:t>
            </a:r>
            <a:br>
              <a:rPr lang="en-IN" sz="2800" dirty="0"/>
            </a:br>
            <a:r>
              <a:rPr lang="en-IN" sz="2800" dirty="0">
                <a:solidFill>
                  <a:schemeClr val="bg1"/>
                </a:solidFill>
              </a:rPr>
              <a:t>1. FEI (Focus efficiency Index) penalty</a:t>
            </a:r>
            <a:br>
              <a:rPr lang="en-IN" sz="2800" dirty="0"/>
            </a:br>
            <a:r>
              <a:rPr lang="en-IN" sz="2800" dirty="0">
                <a:solidFill>
                  <a:schemeClr val="bg1"/>
                </a:solidFill>
              </a:rPr>
              <a:t>2. Reduced leaderboard score</a:t>
            </a:r>
            <a:br>
              <a:rPr lang="en-IN" sz="2800" dirty="0"/>
            </a:br>
            <a:br>
              <a:rPr lang="en-IN" sz="2800" dirty="0"/>
            </a:br>
            <a:r>
              <a:rPr lang="en-IN" sz="2800" b="1" dirty="0">
                <a:solidFill>
                  <a:schemeClr val="bg1"/>
                </a:solidFill>
              </a:rPr>
              <a:t>We prevent fake engagement.</a:t>
            </a:r>
          </a:p>
        </p:txBody>
      </p:sp>
    </p:spTree>
    <p:extLst>
      <p:ext uri="{BB962C8B-B14F-4D97-AF65-F5344CB8AC3E}">
        <p14:creationId xmlns:p14="http://schemas.microsoft.com/office/powerpoint/2010/main" val="569093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B1767-FFDC-B1F9-3924-E95D73F1D3FF}"/>
              </a:ext>
            </a:extLst>
          </p:cNvPr>
          <p:cNvSpPr>
            <a:spLocks noGrp="1"/>
          </p:cNvSpPr>
          <p:nvPr>
            <p:ph type="title"/>
          </p:nvPr>
        </p:nvSpPr>
        <p:spPr>
          <a:xfrm>
            <a:off x="580573" y="269847"/>
            <a:ext cx="10870504" cy="5939315"/>
          </a:xfrm>
        </p:spPr>
        <p:txBody>
          <a:bodyPr>
            <a:normAutofit/>
          </a:bodyPr>
          <a:lstStyle/>
          <a:p>
            <a:r>
              <a:rPr lang="en-US" b="1" dirty="0">
                <a:solidFill>
                  <a:schemeClr val="bg1"/>
                </a:solidFill>
              </a:rPr>
              <a:t>Anti-Cheat System – Layer 2 (Idle Detection)</a:t>
            </a:r>
            <a:br>
              <a:rPr lang="en-US" sz="2800" b="1" dirty="0"/>
            </a:br>
            <a:br>
              <a:rPr lang="en-US" sz="2800" dirty="0"/>
            </a:br>
            <a:r>
              <a:rPr lang="en-US" sz="2800" dirty="0">
                <a:solidFill>
                  <a:schemeClr val="bg1"/>
                </a:solidFill>
              </a:rPr>
              <a:t>We track:</a:t>
            </a:r>
            <a:br>
              <a:rPr lang="en-US" sz="2800" dirty="0"/>
            </a:br>
            <a:r>
              <a:rPr lang="en-US" sz="2800" dirty="0">
                <a:solidFill>
                  <a:schemeClr val="bg1"/>
                </a:solidFill>
              </a:rPr>
              <a:t>1. Mouse movement</a:t>
            </a:r>
            <a:br>
              <a:rPr lang="en-US" sz="2800" dirty="0"/>
            </a:br>
            <a:r>
              <a:rPr lang="en-US" sz="2800" dirty="0">
                <a:solidFill>
                  <a:schemeClr val="bg1"/>
                </a:solidFill>
              </a:rPr>
              <a:t>2. Keyboard input</a:t>
            </a:r>
            <a:br>
              <a:rPr lang="en-US" sz="2800" dirty="0"/>
            </a:br>
            <a:r>
              <a:rPr lang="en-US" sz="2800" dirty="0">
                <a:solidFill>
                  <a:schemeClr val="bg1"/>
                </a:solidFill>
              </a:rPr>
              <a:t>3. Scroll activity</a:t>
            </a:r>
            <a:br>
              <a:rPr lang="en-US" sz="2800" dirty="0"/>
            </a:br>
            <a:br>
              <a:rPr lang="en-US" sz="2800" dirty="0"/>
            </a:br>
            <a:r>
              <a:rPr lang="en-US" sz="2800" dirty="0">
                <a:solidFill>
                  <a:schemeClr val="bg1"/>
                </a:solidFill>
              </a:rPr>
              <a:t>If no interaction for 120 seconds:</a:t>
            </a:r>
            <a:br>
              <a:rPr lang="en-US" sz="2800" dirty="0"/>
            </a:br>
            <a:r>
              <a:rPr lang="en-US" sz="2800" dirty="0">
                <a:solidFill>
                  <a:schemeClr val="bg1"/>
                </a:solidFill>
              </a:rPr>
              <a:t>1. Session auto-pauses</a:t>
            </a:r>
            <a:br>
              <a:rPr lang="en-US" sz="2800" dirty="0"/>
            </a:br>
            <a:r>
              <a:rPr lang="en-US" sz="2800" dirty="0">
                <a:solidFill>
                  <a:schemeClr val="bg1"/>
                </a:solidFill>
              </a:rPr>
              <a:t>2. Idle event recorded</a:t>
            </a:r>
            <a:br>
              <a:rPr lang="en-US" sz="2800" dirty="0"/>
            </a:br>
            <a:br>
              <a:rPr lang="en-US" sz="2800" dirty="0"/>
            </a:br>
            <a:r>
              <a:rPr lang="en-US" sz="2800" dirty="0">
                <a:solidFill>
                  <a:schemeClr val="bg1"/>
                </a:solidFill>
              </a:rPr>
              <a:t>User cannot leave screen and timer.</a:t>
            </a:r>
          </a:p>
        </p:txBody>
      </p:sp>
    </p:spTree>
    <p:extLst>
      <p:ext uri="{BB962C8B-B14F-4D97-AF65-F5344CB8AC3E}">
        <p14:creationId xmlns:p14="http://schemas.microsoft.com/office/powerpoint/2010/main" val="4018425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F7B73-8155-3647-003A-A379444AE826}"/>
              </a:ext>
            </a:extLst>
          </p:cNvPr>
          <p:cNvSpPr>
            <a:spLocks noGrp="1"/>
          </p:cNvSpPr>
          <p:nvPr>
            <p:ph type="title"/>
          </p:nvPr>
        </p:nvSpPr>
        <p:spPr>
          <a:xfrm>
            <a:off x="1227306" y="2103437"/>
            <a:ext cx="10515600" cy="1325563"/>
          </a:xfrm>
        </p:spPr>
        <p:txBody>
          <a:bodyPr>
            <a:normAutofit fontScale="90000"/>
          </a:bodyPr>
          <a:lstStyle/>
          <a:p>
            <a:br>
              <a:rPr lang="en-US" sz="3200" b="1">
                <a:solidFill>
                  <a:schemeClr val="bg1"/>
                </a:solidFill>
              </a:rPr>
            </a:br>
            <a:br>
              <a:rPr lang="en-US" sz="3200" b="1"/>
            </a:br>
            <a:r>
              <a:rPr lang="en-US" b="1">
                <a:solidFill>
                  <a:schemeClr val="bg1"/>
                </a:solidFill>
              </a:rPr>
              <a:t>Anti-Cheat System – Layer 3 (Micro-Checks)</a:t>
            </a:r>
            <a:br>
              <a:rPr lang="en-US" b="1"/>
            </a:br>
            <a:br>
              <a:rPr lang="en-US" sz="2800"/>
            </a:br>
            <a:r>
              <a:rPr lang="en-US" sz="2800">
                <a:solidFill>
                  <a:schemeClr val="bg1"/>
                </a:solidFill>
              </a:rPr>
              <a:t>Every 6–8 minutes:</a:t>
            </a:r>
            <a:br>
              <a:rPr lang="en-US" sz="2800"/>
            </a:br>
            <a:r>
              <a:rPr lang="en-US" sz="2800">
                <a:solidFill>
                  <a:schemeClr val="bg1"/>
                </a:solidFill>
              </a:rPr>
              <a:t>Random popup appears:</a:t>
            </a:r>
            <a:br>
              <a:rPr lang="en-US" sz="2800"/>
            </a:br>
            <a:br>
              <a:rPr lang="en-US" sz="2800"/>
            </a:br>
            <a:r>
              <a:rPr lang="en-US" sz="2800" b="1">
                <a:solidFill>
                  <a:schemeClr val="bg1"/>
                </a:solidFill>
              </a:rPr>
              <a:t>Example</a:t>
            </a:r>
            <a:r>
              <a:rPr lang="en-US" sz="2800">
                <a:solidFill>
                  <a:schemeClr val="bg1"/>
                </a:solidFill>
              </a:rPr>
              <a:t>:</a:t>
            </a:r>
            <a:br>
              <a:rPr lang="en-US" sz="2800">
                <a:solidFill>
                  <a:schemeClr val="bg1"/>
                </a:solidFill>
              </a:rPr>
            </a:br>
            <a:r>
              <a:rPr lang="en-US" sz="2800">
                <a:solidFill>
                  <a:schemeClr val="bg1"/>
                </a:solidFill>
              </a:rPr>
              <a:t>“What is time complexity of Binary Search?”</a:t>
            </a:r>
            <a:br>
              <a:rPr lang="en-US" sz="2800"/>
            </a:br>
            <a:r>
              <a:rPr lang="en-US" sz="2800">
                <a:solidFill>
                  <a:schemeClr val="bg1"/>
                </a:solidFill>
              </a:rPr>
              <a:t>User must respond within 20 seconds.</a:t>
            </a:r>
            <a:br>
              <a:rPr lang="en-US" sz="2800"/>
            </a:br>
            <a:r>
              <a:rPr lang="en-US" sz="2800">
                <a:solidFill>
                  <a:schemeClr val="bg1"/>
                </a:solidFill>
              </a:rPr>
              <a:t>If correct : Consistency maintained.</a:t>
            </a:r>
            <a:br>
              <a:rPr lang="en-US" sz="2800"/>
            </a:br>
            <a:r>
              <a:rPr lang="en-US" sz="2800">
                <a:solidFill>
                  <a:schemeClr val="bg1"/>
                </a:solidFill>
              </a:rPr>
              <a:t>If ignored : Distraction score increases.</a:t>
            </a:r>
            <a:br>
              <a:rPr lang="en-US" sz="2800">
                <a:solidFill>
                  <a:schemeClr val="bg1"/>
                </a:solidFill>
              </a:rPr>
            </a:br>
            <a:br>
              <a:rPr lang="en-US" sz="2800"/>
            </a:br>
            <a:r>
              <a:rPr lang="en-US" sz="2800">
                <a:solidFill>
                  <a:schemeClr val="bg1"/>
                </a:solidFill>
              </a:rPr>
              <a:t>This ensures cognitive presence</a:t>
            </a:r>
            <a:r>
              <a:rPr lang="en-US" dirty="0">
                <a:solidFill>
                  <a:schemeClr val="bg1"/>
                </a:solidFill>
              </a:rPr>
              <a:t>.</a:t>
            </a:r>
            <a:endParaRPr lang="en-IN" dirty="0">
              <a:solidFill>
                <a:schemeClr val="bg1"/>
              </a:solidFill>
            </a:endParaRPr>
          </a:p>
        </p:txBody>
      </p:sp>
    </p:spTree>
    <p:extLst>
      <p:ext uri="{BB962C8B-B14F-4D97-AF65-F5344CB8AC3E}">
        <p14:creationId xmlns:p14="http://schemas.microsoft.com/office/powerpoint/2010/main" val="4098352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3507F-61E8-C794-A5E4-F6C3F7E65449}"/>
              </a:ext>
            </a:extLst>
          </p:cNvPr>
          <p:cNvSpPr>
            <a:spLocks noGrp="1"/>
          </p:cNvSpPr>
          <p:nvPr>
            <p:ph type="title"/>
          </p:nvPr>
        </p:nvSpPr>
        <p:spPr>
          <a:xfrm>
            <a:off x="1003570" y="2242563"/>
            <a:ext cx="10515600" cy="2348521"/>
          </a:xfrm>
        </p:spPr>
        <p:txBody>
          <a:bodyPr>
            <a:normAutofit fontScale="90000"/>
          </a:bodyPr>
          <a:lstStyle/>
          <a:p>
            <a:r>
              <a:rPr lang="en-IN" b="1" dirty="0">
                <a:solidFill>
                  <a:schemeClr val="bg1"/>
                </a:solidFill>
              </a:rPr>
              <a:t>Focus Efficiency Index (Core Metric)</a:t>
            </a:r>
            <a:br>
              <a:rPr lang="en-IN" b="1" dirty="0"/>
            </a:br>
            <a:br>
              <a:rPr lang="en-IN" dirty="0"/>
            </a:br>
            <a:br>
              <a:rPr lang="en-IN" dirty="0"/>
            </a:br>
            <a:r>
              <a:rPr lang="en-IN" sz="2800" dirty="0">
                <a:solidFill>
                  <a:schemeClr val="bg1"/>
                </a:solidFill>
              </a:rPr>
              <a:t>We introduce:</a:t>
            </a:r>
            <a:br>
              <a:rPr lang="en-IN" sz="2800" dirty="0"/>
            </a:br>
            <a:r>
              <a:rPr lang="en-IN" sz="2800" dirty="0">
                <a:solidFill>
                  <a:schemeClr val="bg1"/>
                </a:solidFill>
              </a:rPr>
              <a:t>## FEI – Focus Efficiency Index</a:t>
            </a:r>
            <a:br>
              <a:rPr lang="en-IN" sz="2800" dirty="0">
                <a:solidFill>
                  <a:schemeClr val="bg1"/>
                </a:solidFill>
              </a:rPr>
            </a:br>
            <a:r>
              <a:rPr lang="en-IN" sz="2800" dirty="0">
                <a:solidFill>
                  <a:schemeClr val="bg1"/>
                </a:solidFill>
              </a:rPr>
              <a:t>Formula : FEI =(Productive Interaction Time × Accuracy)/ Distraction Events</a:t>
            </a:r>
            <a:br>
              <a:rPr lang="en-IN" sz="2800" dirty="0"/>
            </a:br>
            <a:br>
              <a:rPr lang="en-IN" sz="2800" dirty="0"/>
            </a:br>
            <a:r>
              <a:rPr lang="en-IN" sz="2800" dirty="0">
                <a:solidFill>
                  <a:schemeClr val="bg1"/>
                </a:solidFill>
              </a:rPr>
              <a:t>This means:</a:t>
            </a:r>
            <a:br>
              <a:rPr lang="en-IN" sz="2800" dirty="0"/>
            </a:br>
            <a:r>
              <a:rPr lang="en-IN" sz="2800" dirty="0">
                <a:solidFill>
                  <a:schemeClr val="bg1"/>
                </a:solidFill>
              </a:rPr>
              <a:t>1. Accuracy matters</a:t>
            </a:r>
            <a:br>
              <a:rPr lang="en-IN" sz="2800" dirty="0"/>
            </a:br>
            <a:r>
              <a:rPr lang="en-IN" sz="2800" dirty="0">
                <a:solidFill>
                  <a:schemeClr val="bg1"/>
                </a:solidFill>
              </a:rPr>
              <a:t>2. Consistency matters</a:t>
            </a:r>
            <a:br>
              <a:rPr lang="en-IN" sz="2800" dirty="0"/>
            </a:br>
            <a:r>
              <a:rPr lang="en-IN" sz="2800" dirty="0">
                <a:solidFill>
                  <a:schemeClr val="bg1"/>
                </a:solidFill>
              </a:rPr>
              <a:t>3. Focus quality matters</a:t>
            </a:r>
            <a:br>
              <a:rPr lang="en-IN" sz="2800" dirty="0"/>
            </a:br>
            <a:br>
              <a:rPr lang="en-IN" dirty="0"/>
            </a:br>
            <a:r>
              <a:rPr lang="en-IN" dirty="0">
                <a:solidFill>
                  <a:schemeClr val="bg1"/>
                </a:solidFill>
              </a:rPr>
              <a:t>Time alone does not improve rank.</a:t>
            </a:r>
          </a:p>
        </p:txBody>
      </p:sp>
    </p:spTree>
    <p:extLst>
      <p:ext uri="{BB962C8B-B14F-4D97-AF65-F5344CB8AC3E}">
        <p14:creationId xmlns:p14="http://schemas.microsoft.com/office/powerpoint/2010/main" val="3749819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69289-033D-58CA-D23D-5E4DD6692FFD}"/>
              </a:ext>
            </a:extLst>
          </p:cNvPr>
          <p:cNvSpPr>
            <a:spLocks noGrp="1"/>
          </p:cNvSpPr>
          <p:nvPr>
            <p:ph type="title"/>
          </p:nvPr>
        </p:nvSpPr>
        <p:spPr>
          <a:xfrm>
            <a:off x="934172" y="1912485"/>
            <a:ext cx="11611627" cy="2108439"/>
          </a:xfrm>
        </p:spPr>
        <p:txBody>
          <a:bodyPr>
            <a:normAutofit fontScale="90000"/>
          </a:bodyPr>
          <a:lstStyle/>
          <a:p>
            <a:br>
              <a:rPr lang="en-IN" sz="3600" b="1" dirty="0">
                <a:solidFill>
                  <a:schemeClr val="bg1"/>
                </a:solidFill>
              </a:rPr>
            </a:br>
            <a:r>
              <a:rPr lang="en-IN" b="1">
                <a:solidFill>
                  <a:schemeClr val="bg1"/>
                </a:solidFill>
              </a:rPr>
              <a:t>Adaptive Difficulty Engine</a:t>
            </a:r>
            <a:r>
              <a:rPr lang="en-IN" sz="3100" dirty="0">
                <a:solidFill>
                  <a:schemeClr val="bg1"/>
                </a:solidFill>
              </a:rPr>
              <a:t> </a:t>
            </a:r>
            <a:br>
              <a:rPr lang="en-IN" sz="3100" dirty="0"/>
            </a:br>
            <a:br>
              <a:rPr lang="en-IN" sz="3100" dirty="0"/>
            </a:br>
            <a:r>
              <a:rPr lang="en-IN" sz="3100" b="1">
                <a:solidFill>
                  <a:schemeClr val="bg1"/>
                </a:solidFill>
              </a:rPr>
              <a:t>If user performs well:</a:t>
            </a:r>
            <a:br>
              <a:rPr lang="en-IN" sz="3100"/>
            </a:br>
            <a:r>
              <a:rPr lang="en-IN" sz="3100" dirty="0">
                <a:solidFill>
                  <a:schemeClr val="bg1"/>
                </a:solidFill>
              </a:rPr>
              <a:t>1. Difficulty level increases</a:t>
            </a:r>
            <a:br>
              <a:rPr lang="en-IN" sz="3100" dirty="0"/>
            </a:br>
            <a:r>
              <a:rPr lang="en-IN" sz="3100" dirty="0">
                <a:solidFill>
                  <a:schemeClr val="bg1"/>
                </a:solidFill>
              </a:rPr>
              <a:t>2. Problem complexity increases</a:t>
            </a:r>
            <a:br>
              <a:rPr lang="en-IN" sz="3100" dirty="0"/>
            </a:br>
            <a:r>
              <a:rPr lang="en-IN" sz="3100" dirty="0">
                <a:solidFill>
                  <a:schemeClr val="bg1"/>
                </a:solidFill>
              </a:rPr>
              <a:t>3. Micro-check frequency increases</a:t>
            </a:r>
            <a:br>
              <a:rPr lang="en-IN" sz="3100" dirty="0"/>
            </a:br>
            <a:br>
              <a:rPr lang="en-IN" sz="3100" dirty="0"/>
            </a:br>
            <a:r>
              <a:rPr lang="en-IN" sz="3100" b="1">
                <a:solidFill>
                  <a:schemeClr val="bg1"/>
                </a:solidFill>
              </a:rPr>
              <a:t>If user struggles:</a:t>
            </a:r>
            <a:br>
              <a:rPr lang="en-IN" sz="3100" dirty="0"/>
            </a:br>
            <a:r>
              <a:rPr lang="en-IN" sz="3100" dirty="0">
                <a:solidFill>
                  <a:schemeClr val="bg1"/>
                </a:solidFill>
              </a:rPr>
              <a:t>1. Level reduces</a:t>
            </a:r>
            <a:br>
              <a:rPr lang="en-IN" sz="3100" dirty="0"/>
            </a:br>
            <a:r>
              <a:rPr lang="en-IN" sz="3100" dirty="0">
                <a:solidFill>
                  <a:schemeClr val="bg1"/>
                </a:solidFill>
              </a:rPr>
              <a:t>2. Concept reinforcement is triggered</a:t>
            </a:r>
            <a:br>
              <a:rPr lang="en-IN" sz="3100" dirty="0"/>
            </a:br>
            <a:br>
              <a:rPr lang="en-IN" sz="3100" dirty="0"/>
            </a:br>
            <a:r>
              <a:rPr lang="en-IN" sz="3600" b="1" dirty="0">
                <a:solidFill>
                  <a:schemeClr val="bg1"/>
                </a:solidFill>
              </a:rPr>
              <a:t>This ensures:  Continuous skill calibration.</a:t>
            </a:r>
            <a:endParaRPr lang="en-IN" sz="3200" b="1" dirty="0">
              <a:solidFill>
                <a:schemeClr val="bg1"/>
              </a:solidFill>
            </a:endParaRPr>
          </a:p>
        </p:txBody>
      </p:sp>
    </p:spTree>
    <p:extLst>
      <p:ext uri="{BB962C8B-B14F-4D97-AF65-F5344CB8AC3E}">
        <p14:creationId xmlns:p14="http://schemas.microsoft.com/office/powerpoint/2010/main" val="2857529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AC2B2-DD9F-7B3A-F488-693E866571E5}"/>
              </a:ext>
            </a:extLst>
          </p:cNvPr>
          <p:cNvSpPr>
            <a:spLocks noGrp="1"/>
          </p:cNvSpPr>
          <p:nvPr>
            <p:ph type="title"/>
          </p:nvPr>
        </p:nvSpPr>
        <p:spPr>
          <a:xfrm>
            <a:off x="721468" y="1708963"/>
            <a:ext cx="10515600" cy="2285892"/>
          </a:xfrm>
        </p:spPr>
        <p:txBody>
          <a:bodyPr>
            <a:normAutofit fontScale="90000"/>
          </a:bodyPr>
          <a:lstStyle/>
          <a:p>
            <a:br>
              <a:rPr lang="en-US" sz="2800" b="1" dirty="0">
                <a:solidFill>
                  <a:schemeClr val="bg1"/>
                </a:solidFill>
              </a:rPr>
            </a:br>
            <a:r>
              <a:rPr lang="en-US" b="1" dirty="0">
                <a:solidFill>
                  <a:schemeClr val="bg1"/>
                </a:solidFill>
              </a:rPr>
              <a:t>Leaderboard System</a:t>
            </a:r>
            <a:br>
              <a:rPr lang="en-US" sz="2800" b="1" dirty="0"/>
            </a:br>
            <a:br>
              <a:rPr lang="en-US" sz="2800" dirty="0"/>
            </a:br>
            <a:r>
              <a:rPr lang="en-US" sz="2800" b="1" dirty="0">
                <a:solidFill>
                  <a:schemeClr val="bg1"/>
                </a:solidFill>
              </a:rPr>
              <a:t>Three tabs</a:t>
            </a:r>
            <a:r>
              <a:rPr lang="en-US" sz="2800" dirty="0">
                <a:solidFill>
                  <a:schemeClr val="bg1"/>
                </a:solidFill>
              </a:rPr>
              <a:t>:</a:t>
            </a:r>
            <a:br>
              <a:rPr lang="en-US" sz="2800" dirty="0"/>
            </a:br>
            <a:r>
              <a:rPr lang="en-US" sz="2800" dirty="0">
                <a:solidFill>
                  <a:schemeClr val="bg1"/>
                </a:solidFill>
              </a:rPr>
              <a:t>1. Branch</a:t>
            </a:r>
            <a:br>
              <a:rPr lang="en-US" sz="2800" dirty="0"/>
            </a:br>
            <a:r>
              <a:rPr lang="en-US" sz="2800" dirty="0">
                <a:solidFill>
                  <a:schemeClr val="bg1"/>
                </a:solidFill>
              </a:rPr>
              <a:t>2. Year</a:t>
            </a:r>
            <a:br>
              <a:rPr lang="en-US" sz="2800" dirty="0"/>
            </a:br>
            <a:r>
              <a:rPr lang="en-US" sz="2800" dirty="0">
                <a:solidFill>
                  <a:schemeClr val="bg1"/>
                </a:solidFill>
              </a:rPr>
              <a:t>3. Overall</a:t>
            </a:r>
            <a:br>
              <a:rPr lang="en-US" sz="2800" dirty="0"/>
            </a:br>
            <a:r>
              <a:rPr lang="en-US" sz="2800" b="1" dirty="0">
                <a:solidFill>
                  <a:schemeClr val="bg1"/>
                </a:solidFill>
              </a:rPr>
              <a:t>Top 3 per branch highlighted.</a:t>
            </a:r>
            <a:br>
              <a:rPr lang="en-US" sz="2800" b="1" dirty="0"/>
            </a:br>
            <a:br>
              <a:rPr lang="en-US" sz="2800" dirty="0"/>
            </a:br>
            <a:r>
              <a:rPr lang="en-US" sz="2800" dirty="0">
                <a:solidFill>
                  <a:schemeClr val="bg1"/>
                </a:solidFill>
              </a:rPr>
              <a:t>User sees:     “You are Rank #7 in respective branch.”</a:t>
            </a:r>
            <a:br>
              <a:rPr lang="en-US" sz="2800" dirty="0"/>
            </a:br>
            <a:r>
              <a:rPr lang="en-US" sz="2800" dirty="0">
                <a:solidFill>
                  <a:schemeClr val="bg1"/>
                </a:solidFill>
              </a:rPr>
              <a:t>This activates:  Healthy academic competition</a:t>
            </a:r>
            <a:br>
              <a:rPr lang="en-US" sz="2800" dirty="0"/>
            </a:br>
            <a:br>
              <a:rPr lang="en-US" sz="2800" dirty="0"/>
            </a:br>
            <a:br>
              <a:rPr lang="en-US" sz="2800" dirty="0"/>
            </a:br>
            <a:r>
              <a:rPr lang="en-US" sz="2800" b="1" dirty="0">
                <a:solidFill>
                  <a:schemeClr val="bg1"/>
                </a:solidFill>
              </a:rPr>
              <a:t>Without toxic comparison,</a:t>
            </a:r>
            <a:br>
              <a:rPr lang="en-US" sz="2800" b="1" dirty="0"/>
            </a:br>
            <a:r>
              <a:rPr lang="en-US" sz="2800" b="1" dirty="0">
                <a:solidFill>
                  <a:schemeClr val="bg1"/>
                </a:solidFill>
              </a:rPr>
              <a:t>Competition becomes growth-oriented.</a:t>
            </a:r>
            <a:endParaRPr lang="en-IN" sz="2800" b="1" dirty="0">
              <a:solidFill>
                <a:schemeClr val="bg1"/>
              </a:solidFill>
            </a:endParaRPr>
          </a:p>
        </p:txBody>
      </p:sp>
    </p:spTree>
    <p:extLst>
      <p:ext uri="{BB962C8B-B14F-4D97-AF65-F5344CB8AC3E}">
        <p14:creationId xmlns:p14="http://schemas.microsoft.com/office/powerpoint/2010/main" val="3144099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96686-583E-2AF6-1081-00E651744AB3}"/>
              </a:ext>
            </a:extLst>
          </p:cNvPr>
          <p:cNvSpPr>
            <a:spLocks noGrp="1"/>
          </p:cNvSpPr>
          <p:nvPr>
            <p:ph type="title"/>
          </p:nvPr>
        </p:nvSpPr>
        <p:spPr>
          <a:xfrm>
            <a:off x="750651" y="2203653"/>
            <a:ext cx="10515600" cy="2275453"/>
          </a:xfrm>
        </p:spPr>
        <p:txBody>
          <a:bodyPr>
            <a:noAutofit/>
          </a:bodyPr>
          <a:lstStyle/>
          <a:p>
            <a:r>
              <a:rPr lang="en-IN" sz="4000" b="1">
                <a:solidFill>
                  <a:schemeClr val="bg1"/>
                </a:solidFill>
              </a:rPr>
              <a:t>Database Architecture</a:t>
            </a:r>
            <a:br>
              <a:rPr lang="en-IN" sz="2800"/>
            </a:br>
            <a:r>
              <a:rPr lang="en-IN" sz="2800" b="1" dirty="0">
                <a:solidFill>
                  <a:schemeClr val="bg1"/>
                </a:solidFill>
              </a:rPr>
              <a:t>Users Collection:</a:t>
            </a:r>
            <a:br>
              <a:rPr lang="en-IN" sz="2800"/>
            </a:br>
            <a:r>
              <a:rPr lang="en-IN" sz="2400">
                <a:solidFill>
                  <a:schemeClr val="bg1"/>
                </a:solidFill>
              </a:rPr>
              <a:t>1. Branch</a:t>
            </a:r>
            <a:br>
              <a:rPr lang="en-IN" sz="2400"/>
            </a:br>
            <a:r>
              <a:rPr lang="en-IN" sz="2400">
                <a:solidFill>
                  <a:schemeClr val="bg1"/>
                </a:solidFill>
              </a:rPr>
              <a:t>2. year</a:t>
            </a:r>
            <a:br>
              <a:rPr lang="en-IN" sz="2400"/>
            </a:br>
            <a:r>
              <a:rPr lang="en-IN" sz="2400">
                <a:solidFill>
                  <a:schemeClr val="bg1"/>
                </a:solidFill>
              </a:rPr>
              <a:t>3. level</a:t>
            </a:r>
            <a:br>
              <a:rPr lang="en-IN" sz="2400"/>
            </a:br>
            <a:r>
              <a:rPr lang="en-IN" sz="2400">
                <a:solidFill>
                  <a:schemeClr val="bg1"/>
                </a:solidFill>
              </a:rPr>
              <a:t>4. FEI- Focus Efficiency Index</a:t>
            </a:r>
            <a:br>
              <a:rPr lang="en-IN" sz="2400"/>
            </a:br>
            <a:r>
              <a:rPr lang="en-IN" sz="2400">
                <a:solidFill>
                  <a:schemeClr val="bg1"/>
                </a:solidFill>
              </a:rPr>
              <a:t>5. Weekly Focus</a:t>
            </a:r>
            <a:br>
              <a:rPr lang="en-IN" sz="2400"/>
            </a:br>
            <a:r>
              <a:rPr lang="en-IN" sz="2400">
                <a:solidFill>
                  <a:schemeClr val="bg1"/>
                </a:solidFill>
              </a:rPr>
              <a:t>6. Streak</a:t>
            </a:r>
            <a:br>
              <a:rPr lang="en-IN" sz="2400"/>
            </a:br>
            <a:r>
              <a:rPr lang="en-IN" sz="2400">
                <a:solidFill>
                  <a:schemeClr val="bg1"/>
                </a:solidFill>
              </a:rPr>
              <a:t>7. Distraction Count</a:t>
            </a:r>
            <a:br>
              <a:rPr lang="en-IN" sz="2400"/>
            </a:br>
            <a:r>
              <a:rPr lang="en-IN" sz="2800" dirty="0">
                <a:solidFill>
                  <a:schemeClr val="bg1"/>
                </a:solidFill>
              </a:rPr>
              <a:t>                                           </a:t>
            </a:r>
            <a:br>
              <a:rPr lang="en-IN" sz="2800">
                <a:solidFill>
                  <a:schemeClr val="bg1"/>
                </a:solidFill>
              </a:rPr>
            </a:br>
            <a:r>
              <a:rPr lang="en-IN" sz="2800">
                <a:solidFill>
                  <a:schemeClr val="bg1"/>
                </a:solidFill>
              </a:rPr>
              <a:t> </a:t>
            </a:r>
            <a:r>
              <a:rPr lang="en-IN" sz="2800" b="1" dirty="0">
                <a:solidFill>
                  <a:schemeClr val="bg1"/>
                </a:solidFill>
              </a:rPr>
              <a:t>Sessions Collection:</a:t>
            </a:r>
            <a:br>
              <a:rPr lang="en-IN" sz="2800"/>
            </a:br>
            <a:r>
              <a:rPr lang="en-IN" sz="2400">
                <a:solidFill>
                  <a:schemeClr val="bg1"/>
                </a:solidFill>
              </a:rPr>
              <a:t>1. User ID</a:t>
            </a:r>
            <a:br>
              <a:rPr lang="en-IN" sz="2400"/>
            </a:br>
            <a:r>
              <a:rPr lang="en-IN" sz="2400">
                <a:solidFill>
                  <a:schemeClr val="bg1"/>
                </a:solidFill>
              </a:rPr>
              <a:t>2. Start Time</a:t>
            </a:r>
            <a:br>
              <a:rPr lang="en-IN" sz="2400"/>
            </a:br>
            <a:r>
              <a:rPr lang="en-IN" sz="2400">
                <a:solidFill>
                  <a:schemeClr val="bg1"/>
                </a:solidFill>
              </a:rPr>
              <a:t>3. End Time</a:t>
            </a:r>
            <a:br>
              <a:rPr lang="en-IN" sz="2400"/>
            </a:br>
            <a:r>
              <a:rPr lang="en-IN" sz="2400">
                <a:solidFill>
                  <a:schemeClr val="bg1"/>
                </a:solidFill>
              </a:rPr>
              <a:t>4.Interaction Count</a:t>
            </a:r>
            <a:br>
              <a:rPr lang="en-IN" sz="2400"/>
            </a:br>
            <a:r>
              <a:rPr lang="en-IN" sz="2400">
                <a:solidFill>
                  <a:schemeClr val="bg1"/>
                </a:solidFill>
              </a:rPr>
              <a:t>5.Accuracy</a:t>
            </a:r>
            <a:br>
              <a:rPr lang="en-IN" sz="2400"/>
            </a:br>
            <a:r>
              <a:rPr lang="en-IN" sz="2400">
                <a:solidFill>
                  <a:schemeClr val="bg1"/>
                </a:solidFill>
              </a:rPr>
              <a:t>6. Micro Check Score</a:t>
            </a:r>
            <a:br>
              <a:rPr lang="en-IN" sz="2400"/>
            </a:br>
            <a:r>
              <a:rPr lang="en-IN" sz="2400">
                <a:solidFill>
                  <a:schemeClr val="bg1"/>
                </a:solidFill>
              </a:rPr>
              <a:t>                        </a:t>
            </a:r>
            <a:r>
              <a:rPr lang="en-IN" sz="2400" b="1">
                <a:solidFill>
                  <a:schemeClr val="bg1"/>
                </a:solidFill>
              </a:rPr>
              <a:t>Leaderboard auto-calculated using FEI.</a:t>
            </a:r>
          </a:p>
        </p:txBody>
      </p:sp>
    </p:spTree>
    <p:extLst>
      <p:ext uri="{BB962C8B-B14F-4D97-AF65-F5344CB8AC3E}">
        <p14:creationId xmlns:p14="http://schemas.microsoft.com/office/powerpoint/2010/main" val="4138275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30541-4B78-8740-7F65-72BD404AF881}"/>
              </a:ext>
            </a:extLst>
          </p:cNvPr>
          <p:cNvSpPr>
            <a:spLocks noGrp="1"/>
          </p:cNvSpPr>
          <p:nvPr>
            <p:ph type="title"/>
          </p:nvPr>
        </p:nvSpPr>
        <p:spPr>
          <a:xfrm>
            <a:off x="789256" y="2160795"/>
            <a:ext cx="10954010" cy="2713861"/>
          </a:xfrm>
        </p:spPr>
        <p:txBody>
          <a:bodyPr vert="horz" lIns="91440" tIns="45720" rIns="91440" bIns="45720" rtlCol="0" anchor="ctr">
            <a:noAutofit/>
          </a:bodyPr>
          <a:lstStyle/>
          <a:p>
            <a:r>
              <a:rPr lang="en-IN" sz="3600" b="1">
                <a:solidFill>
                  <a:schemeClr val="bg1"/>
                </a:solidFill>
              </a:rPr>
              <a:t>Live Demo Flow </a:t>
            </a:r>
            <a:r>
              <a:rPr lang="en-IN" sz="3600" b="1">
                <a:solidFill>
                  <a:schemeClr val="bg1"/>
                </a:solidFill>
                <a:ea typeface="+mj-lt"/>
                <a:cs typeface="+mj-lt"/>
              </a:rPr>
              <a:t>:</a:t>
            </a:r>
          </a:p>
          <a:p>
            <a:pPr marL="285750" indent="-285750">
              <a:buFont typeface="Arial"/>
              <a:buChar char="•"/>
            </a:pPr>
            <a:r>
              <a:rPr lang="en-IN" sz="2800">
                <a:solidFill>
                  <a:schemeClr val="bg1"/>
                </a:solidFill>
                <a:ea typeface="+mj-lt"/>
                <a:cs typeface="+mj-lt"/>
              </a:rPr>
              <a:t>Show timetable input</a:t>
            </a:r>
          </a:p>
          <a:p>
            <a:pPr marL="285750" indent="-285750">
              <a:buFont typeface="Arial"/>
              <a:buChar char="•"/>
            </a:pPr>
            <a:r>
              <a:rPr lang="en-IN" sz="2800">
                <a:solidFill>
                  <a:schemeClr val="bg1"/>
                </a:solidFill>
                <a:ea typeface="+mj-lt"/>
                <a:cs typeface="+mj-lt"/>
              </a:rPr>
              <a:t>Generate Gap Map</a:t>
            </a:r>
          </a:p>
          <a:p>
            <a:pPr marL="285750" indent="-285750">
              <a:buFont typeface="Arial"/>
              <a:buChar char="•"/>
            </a:pPr>
            <a:r>
              <a:rPr lang="en-IN" sz="2800">
                <a:solidFill>
                  <a:schemeClr val="bg1"/>
                </a:solidFill>
                <a:ea typeface="+mj-lt"/>
                <a:cs typeface="+mj-lt"/>
              </a:rPr>
              <a:t>Display dashboard</a:t>
            </a:r>
          </a:p>
          <a:p>
            <a:pPr marL="285750" indent="-285750">
              <a:buFont typeface="Arial"/>
              <a:buChar char="•"/>
            </a:pPr>
            <a:r>
              <a:rPr lang="en-IN" sz="2800">
                <a:solidFill>
                  <a:schemeClr val="bg1"/>
                </a:solidFill>
                <a:ea typeface="+mj-lt"/>
                <a:cs typeface="+mj-lt"/>
              </a:rPr>
              <a:t>Start sprint (quiz battle)</a:t>
            </a:r>
            <a:endParaRPr lang="en-IN" sz="2800">
              <a:solidFill>
                <a:schemeClr val="bg1"/>
              </a:solidFill>
            </a:endParaRPr>
          </a:p>
          <a:p>
            <a:pPr marL="285750" indent="-285750">
              <a:buFont typeface="Arial"/>
              <a:buChar char="•"/>
            </a:pPr>
            <a:r>
              <a:rPr lang="en-IN" sz="2800">
                <a:solidFill>
                  <a:schemeClr val="bg1"/>
                </a:solidFill>
                <a:ea typeface="+mj-lt"/>
                <a:cs typeface="+mj-lt"/>
              </a:rPr>
              <a:t>Intentionally switch tab</a:t>
            </a:r>
          </a:p>
          <a:p>
            <a:pPr marL="285750" indent="-285750">
              <a:buFont typeface="Arial"/>
              <a:buChar char="•"/>
            </a:pPr>
            <a:r>
              <a:rPr lang="en-IN" sz="2800">
                <a:solidFill>
                  <a:schemeClr val="bg1"/>
                </a:solidFill>
                <a:ea typeface="+mj-lt"/>
                <a:cs typeface="+mj-lt"/>
              </a:rPr>
              <a:t>Show warning system</a:t>
            </a:r>
          </a:p>
          <a:p>
            <a:pPr marL="285750" indent="-285750">
              <a:buFont typeface="Arial"/>
              <a:buChar char="•"/>
            </a:pPr>
            <a:r>
              <a:rPr lang="en-IN" sz="2800">
                <a:solidFill>
                  <a:schemeClr val="bg1"/>
                </a:solidFill>
                <a:ea typeface="+mj-lt"/>
                <a:cs typeface="+mj-lt"/>
              </a:rPr>
              <a:t>Show FEI (Focus Efficiency Index) change</a:t>
            </a:r>
          </a:p>
          <a:p>
            <a:pPr marL="285750" indent="-285750">
              <a:buFont typeface="Arial"/>
              <a:buChar char="•"/>
            </a:pPr>
            <a:r>
              <a:rPr lang="en-IN" sz="2800">
                <a:solidFill>
                  <a:schemeClr val="bg1"/>
                </a:solidFill>
                <a:ea typeface="+mj-lt"/>
                <a:cs typeface="+mj-lt"/>
              </a:rPr>
              <a:t>Show leaderboard</a:t>
            </a:r>
          </a:p>
          <a:p>
            <a:br>
              <a:rPr lang="en-IN" sz="3600" b="1">
                <a:solidFill>
                  <a:schemeClr val="bg1"/>
                </a:solidFill>
                <a:ea typeface="+mj-lt"/>
                <a:cs typeface="+mj-lt"/>
              </a:rPr>
            </a:br>
            <a:r>
              <a:rPr lang="en-IN" sz="3600" b="1">
                <a:solidFill>
                  <a:schemeClr val="bg1"/>
                </a:solidFill>
                <a:ea typeface="+mj-lt"/>
                <a:cs typeface="+mj-lt"/>
              </a:rPr>
              <a:t>This proves:</a:t>
            </a:r>
          </a:p>
          <a:p>
            <a:pPr marL="285750" indent="-285750">
              <a:buFont typeface="Arial"/>
              <a:buChar char="•"/>
            </a:pPr>
            <a:r>
              <a:rPr lang="en-IN" sz="2800">
                <a:solidFill>
                  <a:schemeClr val="bg1"/>
                </a:solidFill>
                <a:ea typeface="+mj-lt"/>
                <a:cs typeface="+mj-lt"/>
              </a:rPr>
              <a:t>System integrity</a:t>
            </a:r>
          </a:p>
          <a:p>
            <a:pPr marL="285750" indent="-285750">
              <a:buFont typeface="Arial"/>
              <a:buChar char="•"/>
            </a:pPr>
            <a:r>
              <a:rPr lang="en-IN" sz="2800">
                <a:solidFill>
                  <a:schemeClr val="bg1"/>
                </a:solidFill>
                <a:ea typeface="+mj-lt"/>
                <a:cs typeface="+mj-lt"/>
              </a:rPr>
              <a:t>Anti-cheat robustness</a:t>
            </a:r>
          </a:p>
          <a:p>
            <a:pPr marL="285750" indent="-285750">
              <a:buFont typeface="Arial"/>
              <a:buChar char="•"/>
            </a:pPr>
            <a:r>
              <a:rPr lang="en-IN" sz="2800">
                <a:solidFill>
                  <a:schemeClr val="bg1"/>
                </a:solidFill>
                <a:ea typeface="+mj-lt"/>
                <a:cs typeface="+mj-lt"/>
              </a:rPr>
              <a:t>Real-time scoring</a:t>
            </a:r>
          </a:p>
          <a:p>
            <a:endParaRPr lang="en-IN" sz="2800">
              <a:solidFill>
                <a:schemeClr val="bg1"/>
              </a:solidFill>
            </a:endParaRPr>
          </a:p>
        </p:txBody>
      </p:sp>
    </p:spTree>
    <p:extLst>
      <p:ext uri="{BB962C8B-B14F-4D97-AF65-F5344CB8AC3E}">
        <p14:creationId xmlns:p14="http://schemas.microsoft.com/office/powerpoint/2010/main" val="202238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FD360-8FA4-6201-A996-ABBAB3F0C95A}"/>
              </a:ext>
            </a:extLst>
          </p:cNvPr>
          <p:cNvSpPr>
            <a:spLocks noGrp="1"/>
          </p:cNvSpPr>
          <p:nvPr>
            <p:ph type="title"/>
          </p:nvPr>
        </p:nvSpPr>
        <p:spPr>
          <a:xfrm>
            <a:off x="999994" y="2317778"/>
            <a:ext cx="11013304" cy="2584422"/>
          </a:xfrm>
        </p:spPr>
        <p:txBody>
          <a:bodyPr>
            <a:normAutofit fontScale="90000"/>
          </a:bodyPr>
          <a:lstStyle/>
          <a:p>
            <a:r>
              <a:rPr lang="en-US" sz="3600" b="1">
                <a:solidFill>
                  <a:schemeClr val="bg1"/>
                </a:solidFill>
              </a:rPr>
              <a:t>Short Term Impact:</a:t>
            </a:r>
            <a:br>
              <a:rPr lang="en-US" sz="3600"/>
            </a:br>
            <a:br>
              <a:rPr lang="en-US" sz="3600" dirty="0"/>
            </a:br>
            <a:r>
              <a:rPr lang="en-US" sz="3600" dirty="0">
                <a:solidFill>
                  <a:schemeClr val="bg1"/>
                </a:solidFill>
              </a:rPr>
              <a:t>1. Increased structured productivity</a:t>
            </a:r>
            <a:br>
              <a:rPr lang="en-US" sz="3600" dirty="0"/>
            </a:br>
            <a:r>
              <a:rPr lang="en-US" sz="3600" dirty="0">
                <a:solidFill>
                  <a:schemeClr val="bg1"/>
                </a:solidFill>
              </a:rPr>
              <a:t>2. Reduced distraction habits</a:t>
            </a:r>
            <a:br>
              <a:rPr lang="en-US" sz="3600" dirty="0"/>
            </a:br>
            <a:r>
              <a:rPr lang="en-US" sz="3600" dirty="0">
                <a:solidFill>
                  <a:schemeClr val="bg1"/>
                </a:solidFill>
              </a:rPr>
              <a:t>3. Skill improvement during idle gaps</a:t>
            </a:r>
            <a:br>
              <a:rPr lang="en-US" sz="3600"/>
            </a:br>
            <a:br>
              <a:rPr lang="en-US" sz="3600" dirty="0"/>
            </a:br>
            <a:r>
              <a:rPr lang="en-US" sz="3600" b="1">
                <a:solidFill>
                  <a:schemeClr val="bg1"/>
                </a:solidFill>
              </a:rPr>
              <a:t>Long-Term Vision:</a:t>
            </a:r>
            <a:br>
              <a:rPr lang="en-US" sz="3600"/>
            </a:br>
            <a:br>
              <a:rPr lang="en-US" sz="3600"/>
            </a:br>
            <a:r>
              <a:rPr lang="en-US" sz="3600" dirty="0">
                <a:solidFill>
                  <a:schemeClr val="bg1"/>
                </a:solidFill>
              </a:rPr>
              <a:t>1. Campus-wide deployment</a:t>
            </a:r>
            <a:br>
              <a:rPr lang="en-US" sz="3600" dirty="0"/>
            </a:br>
            <a:r>
              <a:rPr lang="en-US" sz="3600" dirty="0">
                <a:solidFill>
                  <a:schemeClr val="bg1"/>
                </a:solidFill>
              </a:rPr>
              <a:t>2. Integration with academic learning management system</a:t>
            </a:r>
            <a:br>
              <a:rPr lang="en-US" sz="3600" dirty="0"/>
            </a:br>
            <a:r>
              <a:rPr lang="en-US" sz="3600" dirty="0">
                <a:solidFill>
                  <a:schemeClr val="bg1"/>
                </a:solidFill>
              </a:rPr>
              <a:t>3. AI-driven skill analytics</a:t>
            </a:r>
            <a:br>
              <a:rPr lang="en-US" sz="3600"/>
            </a:br>
            <a:r>
              <a:rPr lang="en-US" sz="3600" dirty="0">
                <a:solidFill>
                  <a:schemeClr val="bg1"/>
                </a:solidFill>
              </a:rPr>
              <a:t>4. Attention-based performance modeling</a:t>
            </a:r>
            <a:br>
              <a:rPr lang="en-US" sz="3600"/>
            </a:br>
            <a:br>
              <a:rPr lang="en-US" sz="3600" dirty="0"/>
            </a:br>
            <a:endParaRPr lang="en-IN" sz="2800" dirty="0"/>
          </a:p>
        </p:txBody>
      </p:sp>
    </p:spTree>
    <p:extLst>
      <p:ext uri="{BB962C8B-B14F-4D97-AF65-F5344CB8AC3E}">
        <p14:creationId xmlns:p14="http://schemas.microsoft.com/office/powerpoint/2010/main" val="3348276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6C385-5FD6-6FFC-1B4D-1DB37D075335}"/>
              </a:ext>
            </a:extLst>
          </p:cNvPr>
          <p:cNvSpPr>
            <a:spLocks noGrp="1"/>
          </p:cNvSpPr>
          <p:nvPr>
            <p:ph type="title"/>
          </p:nvPr>
        </p:nvSpPr>
        <p:spPr>
          <a:xfrm>
            <a:off x="1046804" y="2245530"/>
            <a:ext cx="10515600" cy="2366940"/>
          </a:xfrm>
        </p:spPr>
        <p:txBody>
          <a:bodyPr>
            <a:noAutofit/>
          </a:bodyPr>
          <a:lstStyle/>
          <a:p>
            <a:r>
              <a:rPr lang="en-US" sz="3200" dirty="0">
                <a:solidFill>
                  <a:schemeClr val="bg1"/>
                </a:solidFill>
              </a:rPr>
              <a:t>We do not reward screen time . </a:t>
            </a:r>
            <a:br>
              <a:rPr lang="en-US" sz="3200">
                <a:solidFill>
                  <a:schemeClr val="bg1"/>
                </a:solidFill>
              </a:rPr>
            </a:br>
            <a:r>
              <a:rPr lang="en-US" sz="3200" dirty="0">
                <a:solidFill>
                  <a:schemeClr val="bg1"/>
                </a:solidFill>
              </a:rPr>
              <a:t>We reward cognitive output . GAP RANKERS transforms idle academic gaps into measurable competitive growth . It is not a productivity app . It is attention infrastructure.</a:t>
            </a:r>
            <a:endParaRPr lang="en-IN" sz="3200" dirty="0">
              <a:solidFill>
                <a:schemeClr val="bg1"/>
              </a:solidFill>
            </a:endParaRPr>
          </a:p>
        </p:txBody>
      </p:sp>
    </p:spTree>
    <p:extLst>
      <p:ext uri="{BB962C8B-B14F-4D97-AF65-F5344CB8AC3E}">
        <p14:creationId xmlns:p14="http://schemas.microsoft.com/office/powerpoint/2010/main" val="987426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0F66E-D90D-6AC7-C932-4273CBB7B138}"/>
              </a:ext>
            </a:extLst>
          </p:cNvPr>
          <p:cNvSpPr>
            <a:spLocks noGrp="1"/>
          </p:cNvSpPr>
          <p:nvPr>
            <p:ph type="title"/>
          </p:nvPr>
        </p:nvSpPr>
        <p:spPr>
          <a:xfrm>
            <a:off x="765131" y="282907"/>
            <a:ext cx="10588669" cy="6168960"/>
          </a:xfrm>
        </p:spPr>
        <p:txBody>
          <a:bodyPr>
            <a:normAutofit/>
          </a:bodyPr>
          <a:lstStyle/>
          <a:p>
            <a:r>
              <a:rPr lang="en-IN" b="1" dirty="0">
                <a:solidFill>
                  <a:schemeClr val="bg1"/>
                </a:solidFill>
              </a:rPr>
              <a:t> Backend Goals</a:t>
            </a:r>
            <a:br>
              <a:rPr lang="en-IN" b="1">
                <a:solidFill>
                  <a:schemeClr val="bg1"/>
                </a:solidFill>
              </a:rPr>
            </a:br>
            <a:endParaRPr lang="en-IN" b="1">
              <a:solidFill>
                <a:schemeClr val="bg1"/>
              </a:solidFill>
            </a:endParaRPr>
          </a:p>
          <a:p>
            <a:r>
              <a:rPr lang="en-IN" sz="3600" b="1">
                <a:solidFill>
                  <a:schemeClr val="bg1"/>
                </a:solidFill>
                <a:ea typeface="+mj-lt"/>
                <a:cs typeface="+mj-lt"/>
              </a:rPr>
              <a:t> </a:t>
            </a:r>
            <a:r>
              <a:rPr lang="en-IN" sz="4000" b="1">
                <a:solidFill>
                  <a:schemeClr val="bg1"/>
                </a:solidFill>
                <a:ea typeface="+mj-lt"/>
                <a:cs typeface="+mj-lt"/>
              </a:rPr>
              <a:t>The backend should</a:t>
            </a:r>
            <a:r>
              <a:rPr lang="en-IN" sz="3600" b="1">
                <a:solidFill>
                  <a:schemeClr val="bg1"/>
                </a:solidFill>
                <a:ea typeface="+mj-lt"/>
                <a:cs typeface="+mj-lt"/>
              </a:rPr>
              <a:t>:</a:t>
            </a:r>
          </a:p>
          <a:p>
            <a:pPr marL="285750" indent="-285750">
              <a:buFont typeface="Arial"/>
              <a:buChar char="•"/>
            </a:pPr>
            <a:r>
              <a:rPr lang="en-IN" sz="3200" dirty="0">
                <a:solidFill>
                  <a:schemeClr val="bg1"/>
                </a:solidFill>
                <a:ea typeface="+mj-lt"/>
                <a:cs typeface="+mj-lt"/>
              </a:rPr>
              <a:t>Handle </a:t>
            </a:r>
            <a:r>
              <a:rPr lang="en-IN" sz="3200" b="1" dirty="0">
                <a:solidFill>
                  <a:schemeClr val="bg1"/>
                </a:solidFill>
                <a:ea typeface="+mj-lt"/>
                <a:cs typeface="+mj-lt"/>
              </a:rPr>
              <a:t>student authentication</a:t>
            </a:r>
            <a:r>
              <a:rPr lang="en-IN" sz="3200" dirty="0">
                <a:solidFill>
                  <a:schemeClr val="bg1"/>
                </a:solidFill>
                <a:ea typeface="+mj-lt"/>
                <a:cs typeface="+mj-lt"/>
              </a:rPr>
              <a:t> (login &amp; branch info)</a:t>
            </a:r>
          </a:p>
          <a:p>
            <a:pPr marL="285750" indent="-285750">
              <a:buFont typeface="Arial"/>
              <a:buChar char="•"/>
            </a:pPr>
            <a:r>
              <a:rPr lang="en-IN" sz="3200" dirty="0">
                <a:solidFill>
                  <a:schemeClr val="bg1"/>
                </a:solidFill>
                <a:ea typeface="+mj-lt"/>
                <a:cs typeface="+mj-lt"/>
              </a:rPr>
              <a:t>Provide </a:t>
            </a:r>
            <a:r>
              <a:rPr lang="en-IN" sz="3200" b="1" dirty="0">
                <a:solidFill>
                  <a:schemeClr val="bg1"/>
                </a:solidFill>
                <a:ea typeface="+mj-lt"/>
                <a:cs typeface="+mj-lt"/>
              </a:rPr>
              <a:t>subject → topic selection</a:t>
            </a:r>
          </a:p>
          <a:p>
            <a:pPr marL="285750" indent="-285750">
              <a:buFont typeface="Arial"/>
              <a:buChar char="•"/>
            </a:pPr>
            <a:r>
              <a:rPr lang="en-IN" sz="3200" dirty="0">
                <a:solidFill>
                  <a:schemeClr val="bg1"/>
                </a:solidFill>
                <a:ea typeface="+mj-lt"/>
                <a:cs typeface="+mj-lt"/>
              </a:rPr>
              <a:t>Provide </a:t>
            </a:r>
            <a:r>
              <a:rPr lang="en-IN" sz="3200" b="1" dirty="0">
                <a:solidFill>
                  <a:schemeClr val="bg1"/>
                </a:solidFill>
                <a:ea typeface="+mj-lt"/>
                <a:cs typeface="+mj-lt"/>
              </a:rPr>
              <a:t>semester-specific questions</a:t>
            </a:r>
            <a:endParaRPr lang="en-IN" sz="3200" dirty="0">
              <a:solidFill>
                <a:schemeClr val="bg1"/>
              </a:solidFill>
              <a:ea typeface="+mj-lt"/>
              <a:cs typeface="+mj-lt"/>
            </a:endParaRPr>
          </a:p>
          <a:p>
            <a:pPr marL="285750" indent="-285750">
              <a:buFont typeface="Arial"/>
              <a:buChar char="•"/>
            </a:pPr>
            <a:r>
              <a:rPr lang="en-IN" sz="3200" dirty="0">
                <a:solidFill>
                  <a:schemeClr val="bg1"/>
                </a:solidFill>
                <a:ea typeface="+mj-lt"/>
                <a:cs typeface="+mj-lt"/>
              </a:rPr>
              <a:t>Provide  </a:t>
            </a:r>
            <a:r>
              <a:rPr lang="en-IN" sz="3200" b="1" dirty="0">
                <a:solidFill>
                  <a:schemeClr val="bg1"/>
                </a:solidFill>
                <a:ea typeface="+mj-lt"/>
                <a:cs typeface="+mj-lt"/>
              </a:rPr>
              <a:t>topic-based AI-generated quizzes</a:t>
            </a:r>
            <a:r>
              <a:rPr lang="en-IN" sz="3200" dirty="0">
                <a:solidFill>
                  <a:schemeClr val="bg1"/>
                </a:solidFill>
                <a:ea typeface="+mj-lt"/>
                <a:cs typeface="+mj-lt"/>
              </a:rPr>
              <a:t> (DSA, Python, C, etc.)</a:t>
            </a:r>
          </a:p>
          <a:p>
            <a:pPr marL="285750" indent="-285750">
              <a:buFont typeface="Arial"/>
              <a:buChar char="•"/>
            </a:pPr>
            <a:r>
              <a:rPr lang="en-IN" sz="3200" dirty="0">
                <a:solidFill>
                  <a:schemeClr val="bg1"/>
                </a:solidFill>
                <a:ea typeface="+mj-lt"/>
                <a:cs typeface="+mj-lt"/>
              </a:rPr>
              <a:t>Randomize questions for each battle session</a:t>
            </a:r>
            <a:endParaRPr lang="en-IN" sz="3200" dirty="0">
              <a:solidFill>
                <a:schemeClr val="bg1"/>
              </a:solidFill>
            </a:endParaRPr>
          </a:p>
          <a:p>
            <a:pPr marL="285750" indent="-285750">
              <a:buFont typeface="Arial"/>
              <a:buChar char="•"/>
            </a:pPr>
            <a:r>
              <a:rPr lang="en-IN" sz="3200" dirty="0">
                <a:solidFill>
                  <a:schemeClr val="bg1"/>
                </a:solidFill>
                <a:ea typeface="+mj-lt"/>
                <a:cs typeface="+mj-lt"/>
              </a:rPr>
              <a:t>Track </a:t>
            </a:r>
            <a:r>
              <a:rPr lang="en-IN" sz="3200" b="1" dirty="0">
                <a:solidFill>
                  <a:schemeClr val="bg1"/>
                </a:solidFill>
                <a:ea typeface="+mj-lt"/>
                <a:cs typeface="+mj-lt"/>
              </a:rPr>
              <a:t>scores, streaks, and leaderboard</a:t>
            </a:r>
            <a:endParaRPr lang="en-IN" sz="3200" dirty="0">
              <a:solidFill>
                <a:schemeClr val="bg1"/>
              </a:solidFill>
            </a:endParaRPr>
          </a:p>
          <a:p>
            <a:pPr marL="285750" indent="-285750">
              <a:buFont typeface="Arial"/>
              <a:buChar char="•"/>
            </a:pPr>
            <a:r>
              <a:rPr lang="en-IN" sz="3200" dirty="0">
                <a:solidFill>
                  <a:schemeClr val="bg1"/>
                </a:solidFill>
                <a:ea typeface="+mj-lt"/>
                <a:cs typeface="+mj-lt"/>
              </a:rPr>
              <a:t>Support </a:t>
            </a:r>
            <a:r>
              <a:rPr lang="en-IN" sz="3200" b="1" dirty="0">
                <a:solidFill>
                  <a:schemeClr val="bg1"/>
                </a:solidFill>
                <a:ea typeface="+mj-lt"/>
                <a:cs typeface="+mj-lt"/>
              </a:rPr>
              <a:t>focus mode / timer integration</a:t>
            </a:r>
            <a:endParaRPr lang="en-IN" sz="3200" dirty="0">
              <a:solidFill>
                <a:schemeClr val="bg1"/>
              </a:solidFill>
            </a:endParaRPr>
          </a:p>
          <a:p>
            <a:endParaRPr lang="en-IN" dirty="0"/>
          </a:p>
        </p:txBody>
      </p:sp>
    </p:spTree>
    <p:extLst>
      <p:ext uri="{BB962C8B-B14F-4D97-AF65-F5344CB8AC3E}">
        <p14:creationId xmlns:p14="http://schemas.microsoft.com/office/powerpoint/2010/main" val="33638698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E49B-99D5-FC8A-D9B8-F412A9D65995}"/>
              </a:ext>
            </a:extLst>
          </p:cNvPr>
          <p:cNvSpPr>
            <a:spLocks noGrp="1"/>
          </p:cNvSpPr>
          <p:nvPr>
            <p:ph type="title"/>
          </p:nvPr>
        </p:nvSpPr>
        <p:spPr>
          <a:xfrm>
            <a:off x="671188" y="688714"/>
            <a:ext cx="10285955" cy="5584411"/>
          </a:xfrm>
        </p:spPr>
        <p:txBody>
          <a:bodyPr>
            <a:normAutofit/>
          </a:bodyPr>
          <a:lstStyle/>
          <a:p>
            <a:r>
              <a:rPr lang="en-US" b="1" dirty="0">
                <a:solidFill>
                  <a:schemeClr val="bg1"/>
                </a:solidFill>
              </a:rPr>
              <a:t>Backend Workflow (Step-by-Step)</a:t>
            </a:r>
            <a:endParaRPr lang="en-US" dirty="0">
              <a:solidFill>
                <a:schemeClr val="bg1"/>
              </a:solidFill>
            </a:endParaRPr>
          </a:p>
          <a:p>
            <a:r>
              <a:rPr lang="en-US" sz="3600" b="1" dirty="0">
                <a:solidFill>
                  <a:schemeClr val="bg1"/>
                </a:solidFill>
                <a:ea typeface="+mj-lt"/>
                <a:cs typeface="+mj-lt"/>
              </a:rPr>
              <a:t>Step 1: Student Logs In</a:t>
            </a:r>
            <a:br>
              <a:rPr lang="en-US" sz="3600" dirty="0">
                <a:solidFill>
                  <a:schemeClr val="bg1"/>
                </a:solidFill>
                <a:ea typeface="+mj-lt"/>
                <a:cs typeface="+mj-lt"/>
              </a:rPr>
            </a:br>
            <a:endParaRPr lang="en-US" sz="3600" dirty="0">
              <a:solidFill>
                <a:schemeClr val="bg1"/>
              </a:solidFill>
              <a:ea typeface="+mj-lt"/>
              <a:cs typeface="+mj-lt"/>
            </a:endParaRPr>
          </a:p>
          <a:p>
            <a:pPr marL="285750" indent="-285750">
              <a:buFont typeface="Arial"/>
              <a:buChar char="•"/>
            </a:pPr>
            <a:r>
              <a:rPr lang="en-US" sz="3200" dirty="0">
                <a:solidFill>
                  <a:schemeClr val="bg1"/>
                </a:solidFill>
                <a:ea typeface="+mj-lt"/>
                <a:cs typeface="+mj-lt"/>
              </a:rPr>
              <a:t>Backend validates student info</a:t>
            </a:r>
          </a:p>
          <a:p>
            <a:pPr marL="285750" indent="-285750">
              <a:buFont typeface="Arial"/>
              <a:buChar char="•"/>
            </a:pPr>
            <a:r>
              <a:rPr lang="en-US" sz="3200" dirty="0">
                <a:solidFill>
                  <a:schemeClr val="bg1"/>
                </a:solidFill>
                <a:ea typeface="+mj-lt"/>
                <a:cs typeface="+mj-lt"/>
              </a:rPr>
              <a:t>Fetches branch and semester info</a:t>
            </a:r>
            <a:br>
              <a:rPr lang="en-US" sz="3200" dirty="0">
                <a:solidFill>
                  <a:schemeClr val="bg1"/>
                </a:solidFill>
                <a:ea typeface="+mj-lt"/>
                <a:cs typeface="+mj-lt"/>
              </a:rPr>
            </a:br>
            <a:endParaRPr lang="en-US" sz="3200" dirty="0">
              <a:solidFill>
                <a:schemeClr val="bg1"/>
              </a:solidFill>
            </a:endParaRPr>
          </a:p>
          <a:p>
            <a:r>
              <a:rPr lang="en-US" sz="3600" b="1" dirty="0">
                <a:solidFill>
                  <a:schemeClr val="bg1"/>
                </a:solidFill>
              </a:rPr>
              <a:t>Step 2: Fetch Available Subjects &amp; Topics</a:t>
            </a:r>
            <a:br>
              <a:rPr lang="en-US" sz="3600" b="1" dirty="0">
                <a:solidFill>
                  <a:schemeClr val="bg1"/>
                </a:solidFill>
              </a:rPr>
            </a:br>
            <a:endParaRPr lang="en-US" sz="3600" dirty="0">
              <a:solidFill>
                <a:schemeClr val="bg1"/>
              </a:solidFill>
            </a:endParaRPr>
          </a:p>
          <a:p>
            <a:pPr marL="285750" indent="-285750">
              <a:buFont typeface="Arial"/>
              <a:buChar char="•"/>
            </a:pPr>
            <a:r>
              <a:rPr lang="en-US" sz="3200" dirty="0">
                <a:solidFill>
                  <a:schemeClr val="bg1"/>
                </a:solidFill>
                <a:ea typeface="+mj-lt"/>
                <a:cs typeface="+mj-lt"/>
              </a:rPr>
              <a:t>Backend returns </a:t>
            </a:r>
            <a:r>
              <a:rPr lang="en-US" sz="3200" b="1" dirty="0">
                <a:solidFill>
                  <a:schemeClr val="bg1"/>
                </a:solidFill>
                <a:ea typeface="+mj-lt"/>
                <a:cs typeface="+mj-lt"/>
              </a:rPr>
              <a:t>topic list per subject</a:t>
            </a:r>
            <a:endParaRPr lang="en-US" sz="3200" dirty="0">
              <a:solidFill>
                <a:schemeClr val="bg1"/>
              </a:solidFill>
            </a:endParaRPr>
          </a:p>
          <a:p>
            <a:pPr marL="285750" indent="-285750">
              <a:buFont typeface="Arial"/>
              <a:buChar char="•"/>
            </a:pPr>
            <a:r>
              <a:rPr lang="en-US" sz="3200" dirty="0">
                <a:solidFill>
                  <a:schemeClr val="bg1"/>
                </a:solidFill>
                <a:ea typeface="+mj-lt"/>
                <a:cs typeface="+mj-lt"/>
              </a:rPr>
              <a:t>Example:</a:t>
            </a:r>
            <a:endParaRPr lang="en-US" sz="3200" dirty="0">
              <a:solidFill>
                <a:schemeClr val="bg1"/>
              </a:solidFill>
            </a:endParaRPr>
          </a:p>
          <a:p>
            <a:endParaRPr lang="en-US" dirty="0"/>
          </a:p>
        </p:txBody>
      </p:sp>
      <p:sp>
        <p:nvSpPr>
          <p:cNvPr id="3" name="Content Placeholder 2">
            <a:extLst>
              <a:ext uri="{FF2B5EF4-FFF2-40B4-BE49-F238E27FC236}">
                <a16:creationId xmlns:a16="http://schemas.microsoft.com/office/drawing/2014/main" id="{0528AD0B-A814-C2F2-666F-9C755EE719EF}"/>
              </a:ext>
            </a:extLst>
          </p:cNvPr>
          <p:cNvSpPr>
            <a:spLocks noGrp="1"/>
          </p:cNvSpPr>
          <p:nvPr>
            <p:ph idx="1"/>
          </p:nvPr>
        </p:nvSpPr>
        <p:spPr>
          <a:xfrm>
            <a:off x="337159" y="604338"/>
            <a:ext cx="11016641" cy="5572625"/>
          </a:xfrm>
        </p:spPr>
        <p:txBody>
          <a:bodyPr vert="horz" lIns="91440" tIns="45720" rIns="91440" bIns="45720" rtlCol="0" anchor="t">
            <a:normAutofit/>
          </a:bodyPr>
          <a:lstStyle/>
          <a:p>
            <a:endParaRPr lang="en-US"/>
          </a:p>
          <a:p>
            <a:endParaRPr lang="en-US"/>
          </a:p>
          <a:p>
            <a:endParaRPr lang="en-US"/>
          </a:p>
          <a:p>
            <a:endParaRPr lang="en-US"/>
          </a:p>
          <a:p>
            <a:endParaRPr lang="en-US"/>
          </a:p>
        </p:txBody>
      </p:sp>
    </p:spTree>
    <p:extLst>
      <p:ext uri="{BB962C8B-B14F-4D97-AF65-F5344CB8AC3E}">
        <p14:creationId xmlns:p14="http://schemas.microsoft.com/office/powerpoint/2010/main" val="9915780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8C0F49-52F8-9A00-1EF2-A6BF6C8A6571}"/>
              </a:ext>
            </a:extLst>
          </p:cNvPr>
          <p:cNvSpPr>
            <a:spLocks noGrp="1"/>
          </p:cNvSpPr>
          <p:nvPr>
            <p:ph idx="1"/>
          </p:nvPr>
        </p:nvSpPr>
        <p:spPr>
          <a:xfrm>
            <a:off x="389351" y="332940"/>
            <a:ext cx="10964449" cy="5844023"/>
          </a:xfrm>
        </p:spPr>
        <p:txBody>
          <a:bodyPr vert="horz" lIns="91440" tIns="45720" rIns="91440" bIns="45720" rtlCol="0" anchor="t">
            <a:normAutofit/>
          </a:bodyPr>
          <a:lstStyle/>
          <a:p>
            <a:r>
              <a:rPr lang="en-US" sz="3600" dirty="0">
                <a:solidFill>
                  <a:schemeClr val="bg1"/>
                </a:solidFill>
                <a:ea typeface="+mn-lt"/>
                <a:cs typeface="+mn-lt"/>
              </a:rPr>
              <a:t>DSA → Arrays, Linked List, Trees</a:t>
            </a:r>
            <a:endParaRPr lang="en-US" sz="3600" dirty="0">
              <a:solidFill>
                <a:schemeClr val="bg1"/>
              </a:solidFill>
            </a:endParaRPr>
          </a:p>
          <a:p>
            <a:r>
              <a:rPr lang="en-US" sz="3600" dirty="0">
                <a:solidFill>
                  <a:schemeClr val="bg1"/>
                </a:solidFill>
                <a:ea typeface="+mn-lt"/>
                <a:cs typeface="+mn-lt"/>
              </a:rPr>
              <a:t>Python → Loops, Functions, OOP</a:t>
            </a:r>
            <a:endParaRPr lang="en-US" sz="3600" dirty="0">
              <a:solidFill>
                <a:schemeClr val="bg1"/>
              </a:solidFill>
            </a:endParaRPr>
          </a:p>
          <a:p>
            <a:r>
              <a:rPr lang="en-US" sz="3600" dirty="0">
                <a:solidFill>
                  <a:schemeClr val="bg1"/>
                </a:solidFill>
                <a:ea typeface="+mn-lt"/>
                <a:cs typeface="+mn-lt"/>
              </a:rPr>
              <a:t>C → Pointers, Arrays, Functions</a:t>
            </a:r>
          </a:p>
          <a:p>
            <a:endParaRPr lang="en-US" dirty="0">
              <a:solidFill>
                <a:schemeClr val="bg1"/>
              </a:solidFill>
            </a:endParaRPr>
          </a:p>
          <a:p>
            <a:pPr marL="0" indent="0">
              <a:buNone/>
            </a:pPr>
            <a:r>
              <a:rPr lang="en-US" sz="3200" dirty="0">
                <a:solidFill>
                  <a:schemeClr val="bg1"/>
                </a:solidFill>
              </a:rPr>
              <a:t>First student logged in with </a:t>
            </a:r>
            <a:r>
              <a:rPr lang="en-US" sz="3200">
                <a:solidFill>
                  <a:schemeClr val="bg1"/>
                </a:solidFill>
              </a:rPr>
              <a:t>IIT Jodhpur</a:t>
            </a:r>
            <a:r>
              <a:rPr lang="en-US" sz="3200" dirty="0">
                <a:solidFill>
                  <a:schemeClr val="bg1"/>
                </a:solidFill>
              </a:rPr>
              <a:t> email id will see many</a:t>
            </a:r>
          </a:p>
          <a:p>
            <a:pPr marL="0" indent="0">
              <a:buNone/>
            </a:pPr>
            <a:r>
              <a:rPr lang="en-US" sz="3200" dirty="0">
                <a:solidFill>
                  <a:schemeClr val="bg1"/>
                </a:solidFill>
              </a:rPr>
              <a:t> options like </a:t>
            </a:r>
            <a:r>
              <a:rPr lang="en-US" sz="3200">
                <a:solidFill>
                  <a:schemeClr val="bg1"/>
                </a:solidFill>
              </a:rPr>
              <a:t>DSA , C , Phython</a:t>
            </a:r>
            <a:r>
              <a:rPr lang="en-US" sz="3200" dirty="0">
                <a:solidFill>
                  <a:schemeClr val="bg1"/>
                </a:solidFill>
              </a:rPr>
              <a:t> ,etc. Then he/she select</a:t>
            </a:r>
          </a:p>
          <a:p>
            <a:pPr marL="0" indent="0">
              <a:buNone/>
            </a:pPr>
            <a:r>
              <a:rPr lang="en-US" sz="3200" dirty="0">
                <a:solidFill>
                  <a:schemeClr val="bg1"/>
                </a:solidFill>
              </a:rPr>
              <a:t> particular topic then it also show which part of that topic</a:t>
            </a:r>
          </a:p>
          <a:p>
            <a:pPr marL="0" indent="0">
              <a:buNone/>
            </a:pPr>
            <a:r>
              <a:rPr lang="en-US" sz="3200" dirty="0">
                <a:solidFill>
                  <a:schemeClr val="bg1"/>
                </a:solidFill>
              </a:rPr>
              <a:t> you want to do like in DSA </a:t>
            </a:r>
            <a:r>
              <a:rPr lang="en-US" sz="3200">
                <a:solidFill>
                  <a:schemeClr val="bg1"/>
                </a:solidFill>
              </a:rPr>
              <a:t>array ,linked</a:t>
            </a:r>
            <a:r>
              <a:rPr lang="en-US" sz="3200" dirty="0">
                <a:solidFill>
                  <a:schemeClr val="bg1"/>
                </a:solidFill>
              </a:rPr>
              <a:t> </a:t>
            </a:r>
            <a:r>
              <a:rPr lang="en-US" sz="3200">
                <a:solidFill>
                  <a:schemeClr val="bg1"/>
                </a:solidFill>
              </a:rPr>
              <a:t>list ,etc</a:t>
            </a:r>
            <a:r>
              <a:rPr lang="en-US" sz="3200" dirty="0">
                <a:solidFill>
                  <a:schemeClr val="bg1"/>
                </a:solidFill>
              </a:rPr>
              <a:t>.</a:t>
            </a:r>
          </a:p>
        </p:txBody>
      </p:sp>
    </p:spTree>
    <p:extLst>
      <p:ext uri="{BB962C8B-B14F-4D97-AF65-F5344CB8AC3E}">
        <p14:creationId xmlns:p14="http://schemas.microsoft.com/office/powerpoint/2010/main" val="6372996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2CD4A-E8C6-6BB3-2107-08190B7B035A}"/>
              </a:ext>
            </a:extLst>
          </p:cNvPr>
          <p:cNvSpPr>
            <a:spLocks noGrp="1"/>
          </p:cNvSpPr>
          <p:nvPr>
            <p:ph idx="1"/>
          </p:nvPr>
        </p:nvSpPr>
        <p:spPr>
          <a:xfrm>
            <a:off x="170147" y="113735"/>
            <a:ext cx="11183653" cy="6365940"/>
          </a:xfrm>
        </p:spPr>
        <p:txBody>
          <a:bodyPr vert="horz" lIns="91440" tIns="45720" rIns="91440" bIns="45720" rtlCol="0" anchor="t">
            <a:normAutofit fontScale="62500" lnSpcReduction="20000"/>
          </a:bodyPr>
          <a:lstStyle/>
          <a:p>
            <a:endParaRPr lang="en-US" sz="3800">
              <a:solidFill>
                <a:schemeClr val="bg1"/>
              </a:solidFill>
            </a:endParaRPr>
          </a:p>
          <a:p>
            <a:pPr marL="0" indent="0">
              <a:buNone/>
            </a:pPr>
            <a:r>
              <a:rPr lang="en-US" sz="3800" b="1">
                <a:solidFill>
                  <a:schemeClr val="bg1"/>
                </a:solidFill>
              </a:rPr>
              <a:t>If any student want quiz of currently semester subjects then also there</a:t>
            </a:r>
          </a:p>
          <a:p>
            <a:pPr marL="0" indent="0">
              <a:buNone/>
            </a:pPr>
            <a:r>
              <a:rPr lang="en-US" sz="3800" b="1">
                <a:solidFill>
                  <a:schemeClr val="bg1"/>
                </a:solidFill>
              </a:rPr>
              <a:t> is complete  process of doing that </a:t>
            </a:r>
            <a:endParaRPr lang="en-US">
              <a:solidFill>
                <a:schemeClr val="bg1"/>
              </a:solidFill>
            </a:endParaRPr>
          </a:p>
          <a:p>
            <a:pPr marL="0" indent="0">
              <a:buNone/>
            </a:pPr>
            <a:endParaRPr lang="en-US" sz="3800" b="1">
              <a:solidFill>
                <a:schemeClr val="bg1"/>
              </a:solidFill>
              <a:ea typeface="+mn-lt"/>
              <a:cs typeface="+mn-lt"/>
            </a:endParaRPr>
          </a:p>
          <a:p>
            <a:r>
              <a:rPr lang="en-US" sz="4500">
                <a:solidFill>
                  <a:schemeClr val="bg1"/>
                </a:solidFill>
                <a:ea typeface="+mn-lt"/>
                <a:cs typeface="+mn-lt"/>
              </a:rPr>
              <a:t>Teacher uploads slides → Google Classroom</a:t>
            </a:r>
            <a:endParaRPr lang="en-US" sz="4500">
              <a:solidFill>
                <a:schemeClr val="bg1"/>
              </a:solidFill>
            </a:endParaRPr>
          </a:p>
          <a:p>
            <a:r>
              <a:rPr lang="en-US" sz="4500">
                <a:solidFill>
                  <a:schemeClr val="bg1"/>
                </a:solidFill>
                <a:ea typeface="+mn-lt"/>
                <a:cs typeface="+mn-lt"/>
              </a:rPr>
              <a:t>GapRank fetches slides → via Google Classroom API</a:t>
            </a:r>
            <a:endParaRPr lang="en-US" sz="4500">
              <a:solidFill>
                <a:schemeClr val="bg1"/>
              </a:solidFill>
            </a:endParaRPr>
          </a:p>
          <a:p>
            <a:r>
              <a:rPr lang="en-US" sz="4500">
                <a:solidFill>
                  <a:schemeClr val="bg1"/>
                </a:solidFill>
                <a:ea typeface="+mn-lt"/>
                <a:cs typeface="+mn-lt"/>
              </a:rPr>
              <a:t>Extract text → Python / JS parser</a:t>
            </a:r>
            <a:endParaRPr lang="en-US" sz="4500">
              <a:solidFill>
                <a:schemeClr val="bg1"/>
              </a:solidFill>
            </a:endParaRPr>
          </a:p>
          <a:p>
            <a:r>
              <a:rPr lang="en-US" sz="4500">
                <a:solidFill>
                  <a:schemeClr val="bg1"/>
                </a:solidFill>
                <a:ea typeface="+mn-lt"/>
                <a:cs typeface="+mn-lt"/>
              </a:rPr>
              <a:t>Send text to ChatGPT → Generate quiz (MCQs)</a:t>
            </a:r>
            <a:endParaRPr lang="en-US" sz="4500">
              <a:solidFill>
                <a:schemeClr val="bg1"/>
              </a:solidFill>
            </a:endParaRPr>
          </a:p>
          <a:p>
            <a:pPr marL="0" indent="0">
              <a:buNone/>
            </a:pPr>
            <a:endParaRPr lang="en-US"/>
          </a:p>
          <a:p>
            <a:r>
              <a:rPr lang="en-US" sz="4500">
                <a:solidFill>
                  <a:schemeClr val="bg1"/>
                </a:solidFill>
                <a:ea typeface="+mn-lt"/>
                <a:cs typeface="+mn-lt"/>
              </a:rPr>
              <a:t>Store quiz → Github</a:t>
            </a:r>
            <a:endParaRPr lang="en-US" sz="4500">
              <a:solidFill>
                <a:schemeClr val="bg1"/>
              </a:solidFill>
            </a:endParaRPr>
          </a:p>
          <a:p>
            <a:pPr marL="0" indent="0">
              <a:buNone/>
            </a:pPr>
            <a:endParaRPr lang="en-US"/>
          </a:p>
          <a:p>
            <a:r>
              <a:rPr lang="en-US" sz="4500">
                <a:solidFill>
                  <a:schemeClr val="bg1"/>
                </a:solidFill>
                <a:ea typeface="+mn-lt"/>
                <a:cs typeface="+mn-lt"/>
              </a:rPr>
              <a:t>Student opens browser → starts  challenge</a:t>
            </a:r>
            <a:endParaRPr lang="en-US" sz="4500">
              <a:solidFill>
                <a:schemeClr val="bg1"/>
              </a:solidFill>
            </a:endParaRPr>
          </a:p>
          <a:p>
            <a:endParaRPr lang="en-US"/>
          </a:p>
          <a:p>
            <a:r>
              <a:rPr lang="en-US" sz="4500">
                <a:solidFill>
                  <a:schemeClr val="bg1"/>
                </a:solidFill>
                <a:ea typeface="+mn-lt"/>
                <a:cs typeface="+mn-lt"/>
              </a:rPr>
              <a:t>Focus timer runs → answers questions</a:t>
            </a:r>
            <a:endParaRPr lang="en-US" sz="4500">
              <a:solidFill>
                <a:schemeClr val="bg1"/>
              </a:solidFill>
            </a:endParaRPr>
          </a:p>
          <a:p>
            <a:pPr marL="0" indent="0">
              <a:buNone/>
            </a:pPr>
            <a:endParaRPr lang="en-US"/>
          </a:p>
          <a:p>
            <a:r>
              <a:rPr lang="en-US" sz="4000">
                <a:solidFill>
                  <a:schemeClr val="bg1"/>
                </a:solidFill>
                <a:ea typeface="+mn-lt"/>
                <a:cs typeface="+mn-lt"/>
              </a:rPr>
              <a:t>Score &amp; leaderboard updates → branch competition</a:t>
            </a:r>
            <a:endParaRPr lang="en-US" sz="4000">
              <a:solidFill>
                <a:schemeClr val="bg1"/>
              </a:solidFill>
            </a:endParaRPr>
          </a:p>
          <a:p>
            <a:endParaRPr lang="en-US" sz="4600">
              <a:solidFill>
                <a:schemeClr val="bg1"/>
              </a:solidFill>
            </a:endParaRPr>
          </a:p>
        </p:txBody>
      </p:sp>
    </p:spTree>
    <p:extLst>
      <p:ext uri="{BB962C8B-B14F-4D97-AF65-F5344CB8AC3E}">
        <p14:creationId xmlns:p14="http://schemas.microsoft.com/office/powerpoint/2010/main" val="11932197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5DC567-B2BC-0F43-E42E-BEF497B2ED8F}"/>
              </a:ext>
            </a:extLst>
          </p:cNvPr>
          <p:cNvSpPr>
            <a:spLocks noGrp="1"/>
          </p:cNvSpPr>
          <p:nvPr>
            <p:ph idx="1"/>
          </p:nvPr>
        </p:nvSpPr>
        <p:spPr>
          <a:xfrm>
            <a:off x="535487" y="322503"/>
            <a:ext cx="10818313" cy="5885775"/>
          </a:xfrm>
        </p:spPr>
        <p:txBody>
          <a:bodyPr vert="horz" lIns="91440" tIns="45720" rIns="91440" bIns="45720" rtlCol="0" anchor="t">
            <a:normAutofit/>
          </a:bodyPr>
          <a:lstStyle/>
          <a:p>
            <a:r>
              <a:rPr lang="en-US" sz="3200">
                <a:solidFill>
                  <a:schemeClr val="bg1"/>
                </a:solidFill>
                <a:ea typeface="+mn-lt"/>
                <a:cs typeface="+mn-lt"/>
              </a:rPr>
              <a:t>Fully hands-off for students: they open the browser and start the challenge.</a:t>
            </a:r>
            <a:endParaRPr lang="en-US" sz="3200">
              <a:solidFill>
                <a:schemeClr val="bg1"/>
              </a:solidFill>
            </a:endParaRPr>
          </a:p>
          <a:p>
            <a:endParaRPr lang="en-US" sz="3200">
              <a:solidFill>
                <a:schemeClr val="bg1"/>
              </a:solidFill>
              <a:ea typeface="+mn-lt"/>
              <a:cs typeface="+mn-lt"/>
            </a:endParaRPr>
          </a:p>
          <a:p>
            <a:r>
              <a:rPr lang="en-US" sz="3200">
                <a:solidFill>
                  <a:schemeClr val="bg1"/>
                </a:solidFill>
                <a:ea typeface="+mn-lt"/>
                <a:cs typeface="+mn-lt"/>
              </a:rPr>
              <a:t>AI automatically converts slides into quizzes.</a:t>
            </a:r>
            <a:endParaRPr lang="en-US" sz="3200">
              <a:solidFill>
                <a:schemeClr val="bg1"/>
              </a:solidFill>
            </a:endParaRPr>
          </a:p>
          <a:p>
            <a:endParaRPr lang="en-US" sz="3200"/>
          </a:p>
          <a:p>
            <a:r>
              <a:rPr lang="en-US" sz="3200">
                <a:solidFill>
                  <a:schemeClr val="bg1"/>
                </a:solidFill>
                <a:ea typeface="+mn-lt"/>
                <a:cs typeface="+mn-lt"/>
              </a:rPr>
              <a:t>Gamified &amp; focus-oriented: Timer + leaderboard + branch battle.</a:t>
            </a:r>
            <a:endParaRPr lang="en-US" sz="3200">
              <a:solidFill>
                <a:schemeClr val="bg1"/>
              </a:solidFill>
            </a:endParaRPr>
          </a:p>
          <a:p>
            <a:endParaRPr lang="en-US" sz="3200"/>
          </a:p>
          <a:p>
            <a:r>
              <a:rPr lang="en-US" sz="3200">
                <a:solidFill>
                  <a:schemeClr val="bg1"/>
                </a:solidFill>
                <a:ea typeface="+mn-lt"/>
                <a:cs typeface="+mn-lt"/>
              </a:rPr>
              <a:t>Scalable: Works for any branch, semester, or subject.</a:t>
            </a:r>
            <a:endParaRPr lang="en-US" sz="3200">
              <a:solidFill>
                <a:schemeClr val="bg1"/>
              </a:solidFill>
            </a:endParaRPr>
          </a:p>
          <a:p>
            <a:endParaRPr lang="en-US" sz="3200"/>
          </a:p>
        </p:txBody>
      </p:sp>
    </p:spTree>
    <p:extLst>
      <p:ext uri="{BB962C8B-B14F-4D97-AF65-F5344CB8AC3E}">
        <p14:creationId xmlns:p14="http://schemas.microsoft.com/office/powerpoint/2010/main" val="3883585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9B176B-A489-0962-9B9C-C230EEB7C63F}"/>
              </a:ext>
            </a:extLst>
          </p:cNvPr>
          <p:cNvSpPr>
            <a:spLocks noGrp="1"/>
          </p:cNvSpPr>
          <p:nvPr>
            <p:ph idx="1"/>
          </p:nvPr>
        </p:nvSpPr>
        <p:spPr>
          <a:xfrm>
            <a:off x="211899" y="155489"/>
            <a:ext cx="11141901" cy="6021474"/>
          </a:xfrm>
        </p:spPr>
        <p:txBody>
          <a:bodyPr vert="horz" lIns="91440" tIns="45720" rIns="91440" bIns="45720" rtlCol="0" anchor="t">
            <a:normAutofit lnSpcReduction="10000"/>
          </a:bodyPr>
          <a:lstStyle/>
          <a:p>
            <a:endParaRPr lang="en-US">
              <a:solidFill>
                <a:schemeClr val="bg1"/>
              </a:solidFill>
              <a:ea typeface="+mn-lt"/>
              <a:cs typeface="+mn-lt"/>
            </a:endParaRPr>
          </a:p>
          <a:p>
            <a:r>
              <a:rPr lang="en-US">
                <a:solidFill>
                  <a:schemeClr val="bg1"/>
                </a:solidFill>
                <a:ea typeface="+mn-lt"/>
                <a:cs typeface="+mn-lt"/>
              </a:rPr>
              <a:t>Student selects topic → DSA / Python / C</a:t>
            </a:r>
            <a:endParaRPr lang="en-US">
              <a:solidFill>
                <a:schemeClr val="bg1"/>
              </a:solidFill>
            </a:endParaRPr>
          </a:p>
          <a:p>
            <a:pPr marL="0" indent="0">
              <a:buNone/>
            </a:pPr>
            <a:r>
              <a:rPr lang="en-US">
                <a:solidFill>
                  <a:schemeClr val="bg1"/>
                </a:solidFill>
                <a:ea typeface="+mn-lt"/>
                <a:cs typeface="+mn-lt"/>
              </a:rPr>
              <a:t>          ↓</a:t>
            </a:r>
            <a:endParaRPr lang="en-US">
              <a:solidFill>
                <a:schemeClr val="bg1"/>
              </a:solidFill>
            </a:endParaRPr>
          </a:p>
          <a:p>
            <a:r>
              <a:rPr lang="en-US">
                <a:solidFill>
                  <a:schemeClr val="bg1"/>
                </a:solidFill>
                <a:ea typeface="+mn-lt"/>
                <a:cs typeface="+mn-lt"/>
              </a:rPr>
              <a:t>Browser sends request to ChatGPT API </a:t>
            </a:r>
          </a:p>
          <a:p>
            <a:pPr marL="0" indent="0">
              <a:buNone/>
            </a:pPr>
            <a:r>
              <a:rPr lang="en-US">
                <a:solidFill>
                  <a:schemeClr val="bg1"/>
                </a:solidFill>
                <a:ea typeface="+mn-lt"/>
                <a:cs typeface="+mn-lt"/>
              </a:rPr>
              <a:t>          ↓</a:t>
            </a:r>
            <a:endParaRPr lang="en-US">
              <a:solidFill>
                <a:schemeClr val="bg1"/>
              </a:solidFill>
            </a:endParaRPr>
          </a:p>
          <a:p>
            <a:r>
              <a:rPr lang="en-US">
                <a:solidFill>
                  <a:schemeClr val="bg1"/>
                </a:solidFill>
                <a:ea typeface="+mn-lt"/>
                <a:cs typeface="+mn-lt"/>
              </a:rPr>
              <a:t>AI generates 10–20 questions on topic</a:t>
            </a:r>
            <a:endParaRPr lang="en-US">
              <a:solidFill>
                <a:schemeClr val="bg1"/>
              </a:solidFill>
            </a:endParaRPr>
          </a:p>
          <a:p>
            <a:pPr marL="0" indent="0">
              <a:buNone/>
            </a:pPr>
            <a:r>
              <a:rPr lang="en-US">
                <a:solidFill>
                  <a:schemeClr val="bg1"/>
                </a:solidFill>
                <a:ea typeface="+mn-lt"/>
                <a:cs typeface="+mn-lt"/>
              </a:rPr>
              <a:t>         ↓</a:t>
            </a:r>
            <a:endParaRPr lang="en-US">
              <a:solidFill>
                <a:schemeClr val="bg1"/>
              </a:solidFill>
            </a:endParaRPr>
          </a:p>
          <a:p>
            <a:r>
              <a:rPr lang="en-US">
                <a:solidFill>
                  <a:schemeClr val="bg1"/>
                </a:solidFill>
                <a:ea typeface="+mn-lt"/>
                <a:cs typeface="+mn-lt"/>
              </a:rPr>
              <a:t>Random 3–5 questions picked for student battle</a:t>
            </a:r>
            <a:endParaRPr lang="en-US">
              <a:solidFill>
                <a:schemeClr val="bg1"/>
              </a:solidFill>
            </a:endParaRPr>
          </a:p>
          <a:p>
            <a:pPr marL="0" indent="0">
              <a:buNone/>
            </a:pPr>
            <a:r>
              <a:rPr lang="en-US">
                <a:solidFill>
                  <a:schemeClr val="bg1"/>
                </a:solidFill>
                <a:ea typeface="+mn-lt"/>
                <a:cs typeface="+mn-lt"/>
              </a:rPr>
              <a:t>        ↓</a:t>
            </a:r>
            <a:endParaRPr lang="en-US">
              <a:solidFill>
                <a:schemeClr val="bg1"/>
              </a:solidFill>
            </a:endParaRPr>
          </a:p>
          <a:p>
            <a:r>
              <a:rPr lang="en-US">
                <a:solidFill>
                  <a:schemeClr val="bg1"/>
                </a:solidFill>
                <a:ea typeface="+mn-lt"/>
                <a:cs typeface="+mn-lt"/>
              </a:rPr>
              <a:t>Timer &amp; focus mode activated → student answers</a:t>
            </a:r>
            <a:endParaRPr lang="en-US">
              <a:solidFill>
                <a:schemeClr val="bg1"/>
              </a:solidFill>
            </a:endParaRPr>
          </a:p>
          <a:p>
            <a:pPr marL="0" indent="0">
              <a:buNone/>
            </a:pPr>
            <a:r>
              <a:rPr lang="en-US">
                <a:solidFill>
                  <a:schemeClr val="bg1"/>
                </a:solidFill>
                <a:ea typeface="+mn-lt"/>
                <a:cs typeface="+mn-lt"/>
              </a:rPr>
              <a:t>       ↓</a:t>
            </a:r>
            <a:endParaRPr lang="en-US">
              <a:solidFill>
                <a:schemeClr val="bg1"/>
              </a:solidFill>
            </a:endParaRPr>
          </a:p>
          <a:p>
            <a:r>
              <a:rPr lang="en-US">
                <a:solidFill>
                  <a:schemeClr val="bg1"/>
                </a:solidFill>
                <a:ea typeface="+mn-lt"/>
                <a:cs typeface="+mn-lt"/>
              </a:rPr>
              <a:t>Score calculated → leaderboard updated</a:t>
            </a:r>
            <a:endParaRPr lang="en-US">
              <a:solidFill>
                <a:schemeClr val="bg1"/>
              </a:solidFill>
            </a:endParaRPr>
          </a:p>
          <a:p>
            <a:endParaRPr lang="en-US" sz="4800">
              <a:solidFill>
                <a:schemeClr val="bg1"/>
              </a:solidFill>
            </a:endParaRPr>
          </a:p>
        </p:txBody>
      </p:sp>
    </p:spTree>
    <p:extLst>
      <p:ext uri="{BB962C8B-B14F-4D97-AF65-F5344CB8AC3E}">
        <p14:creationId xmlns:p14="http://schemas.microsoft.com/office/powerpoint/2010/main" val="1796843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2B1647-3EF0-5963-ADFA-3E9413F2B019}"/>
              </a:ext>
            </a:extLst>
          </p:cNvPr>
          <p:cNvSpPr>
            <a:spLocks noGrp="1"/>
          </p:cNvSpPr>
          <p:nvPr>
            <p:ph idx="1"/>
          </p:nvPr>
        </p:nvSpPr>
        <p:spPr>
          <a:xfrm>
            <a:off x="472858" y="385132"/>
            <a:ext cx="10880942" cy="5791831"/>
          </a:xfrm>
        </p:spPr>
        <p:txBody>
          <a:bodyPr vert="horz" lIns="91440" tIns="45720" rIns="91440" bIns="45720" rtlCol="0" anchor="t">
            <a:normAutofit/>
          </a:bodyPr>
          <a:lstStyle/>
          <a:p>
            <a:r>
              <a:rPr lang="en-US" sz="3600" b="1" i="1" u="sng">
                <a:solidFill>
                  <a:schemeClr val="bg1"/>
                </a:solidFill>
                <a:ea typeface="+mn-lt"/>
                <a:cs typeface="+mn-lt"/>
              </a:rPr>
              <a:t>Reward System – Recognition &amp; Motivation</a:t>
            </a:r>
            <a:endParaRPr lang="en-US" sz="3600" b="1" i="1" u="sng">
              <a:solidFill>
                <a:schemeClr val="bg1"/>
              </a:solidFill>
            </a:endParaRPr>
          </a:p>
          <a:p>
            <a:endParaRPr lang="en-US" sz="3600">
              <a:solidFill>
                <a:schemeClr val="bg1"/>
              </a:solidFill>
            </a:endParaRPr>
          </a:p>
          <a:p>
            <a:r>
              <a:rPr lang="en-US" sz="3600" b="1">
                <a:solidFill>
                  <a:schemeClr val="bg1"/>
                </a:solidFill>
              </a:rPr>
              <a:t>Focus Achievement Badges</a:t>
            </a:r>
            <a:endParaRPr lang="en-US" sz="3600">
              <a:solidFill>
                <a:schemeClr val="bg1"/>
              </a:solidFill>
            </a:endParaRPr>
          </a:p>
          <a:p>
            <a:r>
              <a:rPr lang="en-US">
                <a:solidFill>
                  <a:schemeClr val="bg1"/>
                </a:solidFill>
                <a:ea typeface="+mn-lt"/>
                <a:cs typeface="+mn-lt"/>
              </a:rPr>
              <a:t>Students earn badges for milestones:</a:t>
            </a:r>
            <a:endParaRPr lang="en-US"/>
          </a:p>
          <a:p>
            <a:pPr lvl="1"/>
            <a:r>
              <a:rPr lang="en-US">
                <a:solidFill>
                  <a:schemeClr val="bg1"/>
                </a:solidFill>
                <a:ea typeface="+mn-lt"/>
                <a:cs typeface="+mn-lt"/>
              </a:rPr>
              <a:t>🔥 </a:t>
            </a:r>
            <a:r>
              <a:rPr lang="en-US" b="1">
                <a:solidFill>
                  <a:schemeClr val="bg1"/>
                </a:solidFill>
                <a:ea typeface="+mn-lt"/>
                <a:cs typeface="+mn-lt"/>
              </a:rPr>
              <a:t>7-Day Consistency Streak</a:t>
            </a:r>
            <a:endParaRPr lang="en-US"/>
          </a:p>
          <a:p>
            <a:pPr lvl="1"/>
            <a:r>
              <a:rPr lang="en-US">
                <a:solidFill>
                  <a:schemeClr val="bg1"/>
                </a:solidFill>
                <a:ea typeface="+mn-lt"/>
                <a:cs typeface="+mn-lt"/>
              </a:rPr>
              <a:t>🧠 </a:t>
            </a:r>
            <a:r>
              <a:rPr lang="en-US" b="1">
                <a:solidFill>
                  <a:schemeClr val="bg1"/>
                </a:solidFill>
                <a:ea typeface="+mn-lt"/>
                <a:cs typeface="+mn-lt"/>
              </a:rPr>
              <a:t>Deep Work Champion</a:t>
            </a:r>
            <a:endParaRPr lang="en-US"/>
          </a:p>
          <a:p>
            <a:pPr lvl="1"/>
            <a:r>
              <a:rPr lang="en-US">
                <a:solidFill>
                  <a:schemeClr val="bg1"/>
                </a:solidFill>
                <a:ea typeface="+mn-lt"/>
                <a:cs typeface="+mn-lt"/>
              </a:rPr>
              <a:t>🚫 </a:t>
            </a:r>
            <a:r>
              <a:rPr lang="en-US" b="1">
                <a:solidFill>
                  <a:schemeClr val="bg1"/>
                </a:solidFill>
                <a:ea typeface="+mn-lt"/>
                <a:cs typeface="+mn-lt"/>
              </a:rPr>
              <a:t>Zero Distraction Sprint</a:t>
            </a:r>
            <a:endParaRPr lang="en-US"/>
          </a:p>
          <a:p>
            <a:pPr lvl="1"/>
            <a:r>
              <a:rPr lang="en-US">
                <a:solidFill>
                  <a:schemeClr val="bg1"/>
                </a:solidFill>
                <a:ea typeface="+mn-lt"/>
                <a:cs typeface="+mn-lt"/>
              </a:rPr>
              <a:t>📈 </a:t>
            </a:r>
            <a:r>
              <a:rPr lang="en-US" b="1">
                <a:solidFill>
                  <a:schemeClr val="bg1"/>
                </a:solidFill>
                <a:ea typeface="+mn-lt"/>
                <a:cs typeface="+mn-lt"/>
              </a:rPr>
              <a:t>Skill Level Upgrade</a:t>
            </a:r>
            <a:endParaRPr lang="en-US"/>
          </a:p>
          <a:p>
            <a:pPr lvl="1"/>
            <a:endParaRPr lang="en-US" b="1">
              <a:solidFill>
                <a:schemeClr val="bg1"/>
              </a:solidFill>
              <a:ea typeface="+mn-lt"/>
              <a:cs typeface="+mn-lt"/>
            </a:endParaRPr>
          </a:p>
          <a:p>
            <a:r>
              <a:rPr lang="en-US">
                <a:solidFill>
                  <a:schemeClr val="bg1"/>
                </a:solidFill>
                <a:ea typeface="+mn-lt"/>
                <a:cs typeface="+mn-lt"/>
              </a:rPr>
              <a:t>Badges show on </a:t>
            </a:r>
            <a:r>
              <a:rPr lang="en-US" b="1">
                <a:solidFill>
                  <a:schemeClr val="bg1"/>
                </a:solidFill>
                <a:ea typeface="+mn-lt"/>
                <a:cs typeface="+mn-lt"/>
              </a:rPr>
              <a:t>profile and leaderboard</a:t>
            </a:r>
            <a:endParaRPr lang="en-US"/>
          </a:p>
          <a:p>
            <a:r>
              <a:rPr lang="en-US">
                <a:solidFill>
                  <a:schemeClr val="bg1"/>
                </a:solidFill>
                <a:ea typeface="+mn-lt"/>
                <a:cs typeface="+mn-lt"/>
              </a:rPr>
              <a:t>Builds student identity and motivation</a:t>
            </a:r>
            <a:endParaRPr lang="en-US"/>
          </a:p>
          <a:p>
            <a:endParaRPr lang="en-US">
              <a:solidFill>
                <a:schemeClr val="bg1"/>
              </a:solidFill>
            </a:endParaRPr>
          </a:p>
        </p:txBody>
      </p:sp>
    </p:spTree>
    <p:extLst>
      <p:ext uri="{BB962C8B-B14F-4D97-AF65-F5344CB8AC3E}">
        <p14:creationId xmlns:p14="http://schemas.microsoft.com/office/powerpoint/2010/main" val="3129050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618F25-F5A9-8471-3B20-B92A6FFD7AA9}"/>
              </a:ext>
            </a:extLst>
          </p:cNvPr>
          <p:cNvSpPr>
            <a:spLocks noGrp="1"/>
          </p:cNvSpPr>
          <p:nvPr>
            <p:ph idx="1"/>
          </p:nvPr>
        </p:nvSpPr>
        <p:spPr>
          <a:xfrm>
            <a:off x="431105" y="312064"/>
            <a:ext cx="10922695" cy="5864899"/>
          </a:xfrm>
        </p:spPr>
        <p:txBody>
          <a:bodyPr vert="horz" lIns="91440" tIns="45720" rIns="91440" bIns="45720" rtlCol="0" anchor="t">
            <a:normAutofit/>
          </a:bodyPr>
          <a:lstStyle/>
          <a:p>
            <a:r>
              <a:rPr lang="en-US" sz="3600" b="1">
                <a:solidFill>
                  <a:schemeClr val="bg1"/>
                </a:solidFill>
              </a:rPr>
              <a:t>Reward System – Tangible Incentives</a:t>
            </a:r>
            <a:endParaRPr lang="en-US" sz="3600">
              <a:solidFill>
                <a:schemeClr val="bg1"/>
              </a:solidFill>
            </a:endParaRPr>
          </a:p>
          <a:p>
            <a:endParaRPr lang="en-US" sz="3200" b="1">
              <a:solidFill>
                <a:schemeClr val="bg1"/>
              </a:solidFill>
            </a:endParaRPr>
          </a:p>
          <a:p>
            <a:r>
              <a:rPr lang="en-US" sz="3200" b="1">
                <a:solidFill>
                  <a:schemeClr val="bg1"/>
                </a:solidFill>
              </a:rPr>
              <a:t>Monthly Winner Treat</a:t>
            </a:r>
            <a:endParaRPr lang="en-US" sz="3200">
              <a:solidFill>
                <a:schemeClr val="bg1"/>
              </a:solidFill>
            </a:endParaRPr>
          </a:p>
          <a:p>
            <a:r>
              <a:rPr lang="en-US" sz="3200">
                <a:solidFill>
                  <a:schemeClr val="bg1"/>
                </a:solidFill>
                <a:ea typeface="+mn-lt"/>
                <a:cs typeface="+mn-lt"/>
              </a:rPr>
              <a:t>Top overall performer gets </a:t>
            </a:r>
            <a:r>
              <a:rPr lang="en-US" sz="3200" b="1">
                <a:solidFill>
                  <a:schemeClr val="bg1"/>
                </a:solidFill>
                <a:ea typeface="+mn-lt"/>
                <a:cs typeface="+mn-lt"/>
              </a:rPr>
              <a:t>₹100 canteen treat</a:t>
            </a:r>
            <a:endParaRPr lang="en-US" sz="3200">
              <a:solidFill>
                <a:schemeClr val="bg1"/>
              </a:solidFill>
            </a:endParaRPr>
          </a:p>
          <a:p>
            <a:r>
              <a:rPr lang="en-US" sz="3200">
                <a:solidFill>
                  <a:schemeClr val="bg1"/>
                </a:solidFill>
                <a:ea typeface="+mn-lt"/>
                <a:cs typeface="+mn-lt"/>
              </a:rPr>
              <a:t>Simple, motivating reward</a:t>
            </a:r>
            <a:endParaRPr lang="en-US" sz="3200">
              <a:solidFill>
                <a:schemeClr val="bg1"/>
              </a:solidFill>
            </a:endParaRPr>
          </a:p>
          <a:p>
            <a:r>
              <a:rPr lang="en-US" sz="3200" b="1">
                <a:solidFill>
                  <a:schemeClr val="bg1"/>
                </a:solidFill>
              </a:rPr>
              <a:t>Branch Pride Recognition</a:t>
            </a:r>
            <a:endParaRPr lang="en-US" sz="3200">
              <a:solidFill>
                <a:schemeClr val="bg1"/>
              </a:solidFill>
            </a:endParaRPr>
          </a:p>
          <a:p>
            <a:r>
              <a:rPr lang="en-US" sz="3200">
                <a:solidFill>
                  <a:schemeClr val="bg1"/>
                </a:solidFill>
                <a:ea typeface="+mn-lt"/>
                <a:cs typeface="+mn-lt"/>
              </a:rPr>
              <a:t>Branch with highest average Focus Efficiency wins</a:t>
            </a:r>
            <a:endParaRPr lang="en-US" sz="3200">
              <a:solidFill>
                <a:schemeClr val="bg1"/>
              </a:solidFill>
            </a:endParaRPr>
          </a:p>
          <a:p>
            <a:r>
              <a:rPr lang="en-US" sz="3200">
                <a:solidFill>
                  <a:schemeClr val="bg1"/>
                </a:solidFill>
                <a:ea typeface="+mn-lt"/>
                <a:cs typeface="+mn-lt"/>
              </a:rPr>
              <a:t>🏆 </a:t>
            </a:r>
            <a:r>
              <a:rPr lang="en-US" sz="3200" b="1">
                <a:solidFill>
                  <a:schemeClr val="bg1"/>
                </a:solidFill>
                <a:ea typeface="+mn-lt"/>
                <a:cs typeface="+mn-lt"/>
              </a:rPr>
              <a:t>“Most Focused Student  of the Month”</a:t>
            </a:r>
            <a:endParaRPr lang="en-US" sz="3200">
              <a:solidFill>
                <a:schemeClr val="bg1"/>
              </a:solidFill>
            </a:endParaRPr>
          </a:p>
          <a:p>
            <a:r>
              <a:rPr lang="en-US" sz="3200">
                <a:solidFill>
                  <a:schemeClr val="bg1"/>
                </a:solidFill>
                <a:ea typeface="+mn-lt"/>
                <a:cs typeface="+mn-lt"/>
              </a:rPr>
              <a:t>Encourages team participation</a:t>
            </a:r>
            <a:endParaRPr lang="en-US" sz="3200">
              <a:solidFill>
                <a:schemeClr val="bg1"/>
              </a:solidFill>
            </a:endParaRPr>
          </a:p>
          <a:p>
            <a:endParaRPr lang="en-US" sz="3200">
              <a:solidFill>
                <a:schemeClr val="bg1"/>
              </a:solidFill>
            </a:endParaRPr>
          </a:p>
          <a:p>
            <a:endParaRPr lang="en-US" sz="3200">
              <a:solidFill>
                <a:schemeClr val="bg1"/>
              </a:solidFill>
            </a:endParaRPr>
          </a:p>
        </p:txBody>
      </p:sp>
    </p:spTree>
    <p:extLst>
      <p:ext uri="{BB962C8B-B14F-4D97-AF65-F5344CB8AC3E}">
        <p14:creationId xmlns:p14="http://schemas.microsoft.com/office/powerpoint/2010/main" val="39190563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1835</Words>
  <Application>Microsoft Office PowerPoint</Application>
  <PresentationFormat>Widescreen</PresentationFormat>
  <Paragraphs>116</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Aptos Display</vt:lpstr>
      <vt:lpstr>Arial</vt:lpstr>
      <vt:lpstr>Comic Sans MS</vt:lpstr>
      <vt:lpstr>Gill Sans MT</vt:lpstr>
      <vt:lpstr>Rockwell</vt:lpstr>
      <vt:lpstr>Office Theme</vt:lpstr>
      <vt:lpstr>GAP RANKERS  “Turn Academic Gaps Into Competitive Growth.”</vt:lpstr>
      <vt:lpstr>The main Problem in our Campus is  :  1. Irregular class schedules 2. 1–2 hour timetable gaps 3.  20–30 minutes walking buffer 4. Mental fatigue between lectures  What actually happens in these gaps?  Students open YouTube Shorts, Instagram Reels, or scroll aimlessly. They feel tired, but they haven’t done any meaningful work.  The issue is NOT: * Lack of intelligence * Lack of ambition * Lack of time  The real issue is :  Unstructured Cognitive Transitions</vt:lpstr>
      <vt:lpstr>                                   Understanding Cognitive Drop  When a class ends: 1. Brain exits deep focus mode 2. Dopamine seeks quick reward 3. Student opens short-form content 4. Attention fragments 5. Next class begins with reduced cognitive sharpness This cycle repeats daily.  Result: 1. Reduced skill growth 2. Low productive consistency 3. False sense of busyness  Students are active , but are not progressing.</vt:lpstr>
      <vt:lpstr>Opportunity Hidden Inside Gaps  A typical student has: 1. 2–3  usable gaps(1-2hour) per slot 2. 45–90 minutes per gap 3. ~3–4 hours of potential growth time daily  That equals: 15–20 hours per week of recoverable cognitive opportunity.  What if we structured those gaps?  Not with motivation. Not with discipline. But with system design.</vt:lpstr>
      <vt:lpstr>  Introducing:  GAP RANKERS  A browser-based attention infrastructure that:  1. Detects timetable gaps 2. Converts them into structured micro-sprints 3. Monitors engagement 4. Measures Focus Efficiency 5. Builds branch-wise and year-wise competitive growth    We do not reward screen time.    We reward cognitive output.</vt:lpstr>
      <vt:lpstr>   Why Web-Based?  We chose a Web Application because: 1. No installation barrier 2. Accessible on any device 3. Easy deployment during hackathon 4. Real-time leaderboard system 5. Scalable using GitHub  Tech Stack: Frontend-  HTML/CSS/JavaScript OR React.js Backend-  Firebase Authentication                        Fire-store Database                        Cloud Functions</vt:lpstr>
      <vt:lpstr> User Flow – Login &amp; Onboarding  Step 1: User logs in via Google . Step 2: Onboarding collects:                   1. Branch                   2. Year                   3. Skill Level (Fresher / Intermediate / Advanced)  This enables: 1. Skill-calibrated problem generation 2. Branch-wise leaderboard competition 3. Difficulty adaptation engine      User profile is stored in Profile Section.</vt:lpstr>
      <vt:lpstr>Timetable Input Engine-   User manually enters:              1. Day-wise class schedule              2. Start time              3. End time  System calculates: Gap = (Next class start – Previous class end) – Walking buffer  Walking buffer default = 30 minutes. Output:   “You have 42 minutes of cognitive opportunity.” We change psychological framing. Not “free time.” “Cognitive opportunity.”</vt:lpstr>
      <vt:lpstr> Gap Detection Logic  The system processes: 1 Weekly schedule 2. Gap durations 3. Minimum usable threshold (≥25 minutes)  For each valid gap: System creates: Micro-Sprint  Suggestion based on: 1. User level 2. Previous performance 3. Current FEI score This makes the experience adaptive and personalized.</vt:lpstr>
      <vt:lpstr> Dashboard Overview  The dashboard displays: 1. Today’s usable gaps 2. Recommended sprint duration 3. Weekly Focus Minutes 4. Focus Efficiency Index (FEI) 5. Current Rank in branch   Example: FEI: 74% Weekly Focus: 210 minutes Rank: #6 in particular branch   This creates visible measurable growth</vt:lpstr>
      <vt:lpstr>Focus Sprint Mode (Core Feature)  When user clicks “Start Focus Sprint”: 1. Full-screen distraction-minimized interface 2. 30-minute countdown timer 3. 3 adaptive-level problems 4. Built-in code editor or structured answer input   The design philosophy: Minimal UI. Maximum cognition.</vt:lpstr>
      <vt:lpstr> Anti-Cheat System – Layer 1 (Tab Monitoring)  Using JavaScript Tab Visibility API:  If user switches tabs: 1. Session auto-pauses 2. Warning appears 3. Distraction counter increases  Repeated tab switches: 1. FEI (Focus efficiency Index) penalty 2. Reduced leaderboard score  We prevent fake engagement.</vt:lpstr>
      <vt:lpstr>Anti-Cheat System – Layer 2 (Idle Detection)  We track: 1. Mouse movement 2. Keyboard input 3. Scroll activity  If no interaction for 120 seconds: 1. Session auto-pauses 2. Idle event recorded  User cannot leave screen and timer.</vt:lpstr>
      <vt:lpstr>  Anti-Cheat System – Layer 3 (Micro-Checks)  Every 6–8 minutes: Random popup appears:  Example: “What is time complexity of Binary Search?” User must respond within 20 seconds. If correct : Consistency maintained. If ignored : Distraction score increases.  This ensures cognitive presence.</vt:lpstr>
      <vt:lpstr>Focus Efficiency Index (Core Metric)   We introduce: ## FEI – Focus Efficiency Index Formula : FEI =(Productive Interaction Time × Accuracy)/ Distraction Events  This means: 1. Accuracy matters 2. Consistency matters 3. Focus quality matters  Time alone does not improve rank.</vt:lpstr>
      <vt:lpstr> Adaptive Difficulty Engine   If user performs well: 1. Difficulty level increases 2. Problem complexity increases 3. Micro-check frequency increases  If user struggles: 1. Level reduces 2. Concept reinforcement is triggered  This ensures:  Continuous skill calibration.</vt:lpstr>
      <vt:lpstr> Leaderboard System  Three tabs: 1. Branch 2. Year 3. Overall Top 3 per branch highlighted.  User sees:     “You are Rank #7 in respective branch.” This activates:  Healthy academic competition   Without toxic comparison, Competition becomes growth-oriented.</vt:lpstr>
      <vt:lpstr>Database Architecture Users Collection: 1. Branch 2. year 3. level 4. FEI- Focus Efficiency Index 5. Weekly Focus 6. Streak 7. Distraction Count                                              Sessions Collection: 1. User ID 2. Start Time 3. End Time 4.Interaction Count 5.Accuracy 6. Micro Check Score                         Leaderboard auto-calculated using FEI.</vt:lpstr>
      <vt:lpstr>Live Demo Flow : Show timetable input Generate Gap Map Display dashboard Start sprint (quiz battle) Intentionally switch tab Show warning system Show FEI (Focus Efficiency Index) change Show leaderboard  This proves: System integrity Anti-cheat robustness Real-time scoring </vt:lpstr>
      <vt:lpstr>Short Term Impact:  1. Increased structured productivity 2. Reduced distraction habits 3. Skill improvement during idle gaps  Long-Term Vision:  1. Campus-wide deployment 2. Integration with academic learning management system 3. AI-driven skill analytics 4. Attention-based performance modeling  </vt:lpstr>
      <vt:lpstr>We do not reward screen time .  We reward cognitive output . GAP RANKERS transforms idle academic gaps into measurable competitive growth . It is not a productivity app . It is attention infrastructure.</vt:lpstr>
      <vt:lpstr> Backend Goals   The backend should: Handle student authentication (login &amp; branch info) Provide subject → topic selection Provide semester-specific questions Provide  topic-based AI-generated quizzes (DSA, Python, C, etc.) Randomize questions for each battle session Track scores, streaks, and leaderboard Support focus mode / timer integration </vt:lpstr>
      <vt:lpstr>Backend Workflow (Step-by-Step) Step 1: Student Logs In  Backend validates student info Fetches branch and semester info  Step 2: Fetch Available Subjects &amp; Topics  Backend returns topic list per subject Example: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snehabharati2511@gmail.com</dc:creator>
  <cp:lastModifiedBy>snehabharati2511@gmail.com</cp:lastModifiedBy>
  <cp:revision>2</cp:revision>
  <dcterms:created xsi:type="dcterms:W3CDTF">2026-02-27T17:31:23Z</dcterms:created>
  <dcterms:modified xsi:type="dcterms:W3CDTF">2026-02-27T18:48:56Z</dcterms:modified>
</cp:coreProperties>
</file>